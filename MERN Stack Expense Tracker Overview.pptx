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x="18288000" cy="10287000"/>
  <p:notesSz cx="6858000" cy="9144000"/>
  <p:embeddedFontLst>
    <p:embeddedFont>
      <p:font typeface="TS Qamus Bold" charset="1" panose="00000800000000000000"/>
      <p:regular r:id="rId60"/>
    </p:embeddedFont>
    <p:embeddedFont>
      <p:font typeface="TS Qamus" charset="1" panose="00000500000000000000"/>
      <p:regular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4.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5.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5.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7.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8.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8.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9.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9.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1.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1.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2.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2.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3.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3.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6.png" Type="http://schemas.openxmlformats.org/officeDocument/2006/relationships/image"/><Relationship Id="rId7" Target="../media/image37.png" Type="http://schemas.openxmlformats.org/officeDocument/2006/relationships/image"/><Relationship Id="rId8" Target="../media/image38.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88729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409039" y="3847830"/>
            <a:ext cx="13753985" cy="2686589"/>
          </a:xfrm>
          <a:prstGeom prst="rect">
            <a:avLst/>
          </a:prstGeom>
        </p:spPr>
        <p:txBody>
          <a:bodyPr anchor="t" rtlCol="false" tIns="0" lIns="0" bIns="0" rIns="0">
            <a:spAutoFit/>
          </a:bodyPr>
          <a:lstStyle/>
          <a:p>
            <a:pPr algn="ctr" marL="0" indent="0" lvl="0">
              <a:lnSpc>
                <a:spcPts val="10483"/>
              </a:lnSpc>
            </a:pPr>
            <a:r>
              <a:rPr lang="en-US" b="true" sz="9617">
                <a:solidFill>
                  <a:srgbClr val="18899D"/>
                </a:solidFill>
                <a:latin typeface="TS Qamus Bold"/>
                <a:ea typeface="TS Qamus Bold"/>
                <a:cs typeface="TS Qamus Bold"/>
                <a:sym typeface="TS Qamus Bold"/>
              </a:rPr>
              <a:t>MERN STACK EXPENSE TRACKER</a:t>
            </a:r>
          </a:p>
        </p:txBody>
      </p:sp>
      <p:sp>
        <p:nvSpPr>
          <p:cNvPr name="TextBox 4" id="4"/>
          <p:cNvSpPr txBox="true"/>
          <p:nvPr/>
        </p:nvSpPr>
        <p:spPr>
          <a:xfrm rot="0">
            <a:off x="4591244" y="6543945"/>
            <a:ext cx="9389573" cy="335637"/>
          </a:xfrm>
          <a:prstGeom prst="rect">
            <a:avLst/>
          </a:prstGeom>
        </p:spPr>
        <p:txBody>
          <a:bodyPr anchor="t" rtlCol="false" tIns="0" lIns="0" bIns="0" rIns="0">
            <a:spAutoFit/>
          </a:bodyPr>
          <a:lstStyle/>
          <a:p>
            <a:pPr algn="ctr" marL="0" indent="0" lvl="0">
              <a:lnSpc>
                <a:spcPts val="2518"/>
              </a:lnSpc>
            </a:pPr>
            <a:r>
              <a:rPr lang="en-US" sz="2310">
                <a:solidFill>
                  <a:srgbClr val="18899D"/>
                </a:solidFill>
                <a:latin typeface="TS Qamus"/>
                <a:ea typeface="TS Qamus"/>
                <a:cs typeface="TS Qamus"/>
                <a:sym typeface="TS Qamus"/>
              </a:rPr>
              <a:t>Comprehensive Personal &amp; Family Finance Management</a:t>
            </a:r>
          </a:p>
        </p:txBody>
      </p:sp>
      <p:sp>
        <p:nvSpPr>
          <p:cNvPr name="Freeform 5" id="5"/>
          <p:cNvSpPr/>
          <p:nvPr/>
        </p:nvSpPr>
        <p:spPr>
          <a:xfrm flipH="true" flipV="true" rot="0">
            <a:off x="13144500" y="4943839"/>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865987" y="8357346"/>
            <a:ext cx="7315200" cy="2673373"/>
          </a:xfrm>
          <a:custGeom>
            <a:avLst/>
            <a:gdLst/>
            <a:ahLst/>
            <a:cxnLst/>
            <a:rect r="r" b="b" t="t" l="l"/>
            <a:pathLst>
              <a:path h="2673373" w="7315200">
                <a:moveTo>
                  <a:pt x="0" y="0"/>
                </a:moveTo>
                <a:lnTo>
                  <a:pt x="7315200" y="0"/>
                </a:lnTo>
                <a:lnTo>
                  <a:pt x="7315200" y="2673373"/>
                </a:lnTo>
                <a:lnTo>
                  <a:pt x="0" y="26733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144500" y="-449392"/>
            <a:ext cx="7315200" cy="2673373"/>
          </a:xfrm>
          <a:custGeom>
            <a:avLst/>
            <a:gdLst/>
            <a:ahLst/>
            <a:cxnLst/>
            <a:rect r="r" b="b" t="t" l="l"/>
            <a:pathLst>
              <a:path h="2673373" w="7315200">
                <a:moveTo>
                  <a:pt x="0" y="0"/>
                </a:moveTo>
                <a:lnTo>
                  <a:pt x="7315200" y="0"/>
                </a:lnTo>
                <a:lnTo>
                  <a:pt x="7315200" y="2673374"/>
                </a:lnTo>
                <a:lnTo>
                  <a:pt x="0" y="26733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3377411" y="8765271"/>
            <a:ext cx="2143604" cy="986058"/>
          </a:xfrm>
          <a:custGeom>
            <a:avLst/>
            <a:gdLst/>
            <a:ahLst/>
            <a:cxnLst/>
            <a:rect r="r" b="b" t="t" l="l"/>
            <a:pathLst>
              <a:path h="986058" w="2143604">
                <a:moveTo>
                  <a:pt x="0" y="0"/>
                </a:moveTo>
                <a:lnTo>
                  <a:pt x="2143604" y="0"/>
                </a:lnTo>
                <a:lnTo>
                  <a:pt x="2143604" y="986058"/>
                </a:lnTo>
                <a:lnTo>
                  <a:pt x="0" y="9860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false" rot="0">
            <a:off x="12433881" y="887295"/>
            <a:ext cx="2143604" cy="986058"/>
          </a:xfrm>
          <a:custGeom>
            <a:avLst/>
            <a:gdLst/>
            <a:ahLst/>
            <a:cxnLst/>
            <a:rect r="r" b="b" t="t" l="l"/>
            <a:pathLst>
              <a:path h="986058" w="2143604">
                <a:moveTo>
                  <a:pt x="2143604" y="0"/>
                </a:moveTo>
                <a:lnTo>
                  <a:pt x="0" y="0"/>
                </a:lnTo>
                <a:lnTo>
                  <a:pt x="0" y="986058"/>
                </a:lnTo>
                <a:lnTo>
                  <a:pt x="2143604" y="986058"/>
                </a:lnTo>
                <a:lnTo>
                  <a:pt x="214360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7345134" y="7924421"/>
            <a:ext cx="3638312" cy="1828015"/>
          </a:xfrm>
          <a:prstGeom prst="rect">
            <a:avLst/>
          </a:prstGeom>
        </p:spPr>
        <p:txBody>
          <a:bodyPr anchor="t" rtlCol="false" tIns="0" lIns="0" bIns="0" rIns="0">
            <a:spAutoFit/>
          </a:bodyPr>
          <a:lstStyle/>
          <a:p>
            <a:pPr algn="ctr">
              <a:lnSpc>
                <a:spcPts val="2911"/>
              </a:lnSpc>
            </a:pPr>
            <a:r>
              <a:rPr lang="en-US" sz="2671">
                <a:solidFill>
                  <a:srgbClr val="18899D"/>
                </a:solidFill>
                <a:latin typeface="TS Qamus"/>
                <a:ea typeface="TS Qamus"/>
                <a:cs typeface="TS Qamus"/>
                <a:sym typeface="TS Qamus"/>
              </a:rPr>
              <a:t>Presented By :</a:t>
            </a:r>
          </a:p>
          <a:p>
            <a:pPr algn="ctr">
              <a:lnSpc>
                <a:spcPts val="2911"/>
              </a:lnSpc>
            </a:pPr>
            <a:r>
              <a:rPr lang="en-US" sz="2671">
                <a:solidFill>
                  <a:srgbClr val="18899D"/>
                </a:solidFill>
                <a:latin typeface="TS Qamus"/>
                <a:ea typeface="TS Qamus"/>
                <a:cs typeface="TS Qamus"/>
                <a:sym typeface="TS Qamus"/>
              </a:rPr>
              <a:t>Rohit Jain</a:t>
            </a:r>
          </a:p>
          <a:p>
            <a:pPr algn="ctr">
              <a:lnSpc>
                <a:spcPts val="2911"/>
              </a:lnSpc>
            </a:pPr>
            <a:r>
              <a:rPr lang="en-US" sz="2671">
                <a:solidFill>
                  <a:srgbClr val="18899D"/>
                </a:solidFill>
                <a:latin typeface="TS Qamus"/>
                <a:ea typeface="TS Qamus"/>
                <a:cs typeface="TS Qamus"/>
                <a:sym typeface="TS Qamus"/>
              </a:rPr>
              <a:t>Saurabh Chaudhary</a:t>
            </a:r>
          </a:p>
          <a:p>
            <a:pPr algn="ctr">
              <a:lnSpc>
                <a:spcPts val="2911"/>
              </a:lnSpc>
            </a:pPr>
            <a:r>
              <a:rPr lang="en-US" sz="2671">
                <a:solidFill>
                  <a:srgbClr val="18899D"/>
                </a:solidFill>
                <a:latin typeface="TS Qamus"/>
                <a:ea typeface="TS Qamus"/>
                <a:cs typeface="TS Qamus"/>
                <a:sym typeface="TS Qamus"/>
              </a:rPr>
              <a:t>Ritik Yadav</a:t>
            </a:r>
          </a:p>
          <a:p>
            <a:pPr algn="ctr">
              <a:lnSpc>
                <a:spcPts val="2911"/>
              </a:lnSpc>
              <a:spcBef>
                <a:spcPct val="0"/>
              </a:spcBef>
            </a:pPr>
            <a:r>
              <a:rPr lang="en-US" sz="2671">
                <a:solidFill>
                  <a:srgbClr val="18899D"/>
                </a:solidFill>
                <a:latin typeface="TS Qamus"/>
                <a:ea typeface="TS Qamus"/>
                <a:cs typeface="TS Qamus"/>
                <a:sym typeface="TS Qamus"/>
              </a:rPr>
              <a:t>Raja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269682" y="7022192"/>
            <a:ext cx="2371932" cy="853895"/>
          </a:xfrm>
          <a:custGeom>
            <a:avLst/>
            <a:gdLst/>
            <a:ahLst/>
            <a:cxnLst/>
            <a:rect r="r" b="b" t="t" l="l"/>
            <a:pathLst>
              <a:path h="853895" w="2371932">
                <a:moveTo>
                  <a:pt x="0" y="0"/>
                </a:moveTo>
                <a:lnTo>
                  <a:pt x="2371931" y="0"/>
                </a:lnTo>
                <a:lnTo>
                  <a:pt x="2371931" y="853895"/>
                </a:lnTo>
                <a:lnTo>
                  <a:pt x="0" y="8538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5400000">
            <a:off x="15646387" y="1787718"/>
            <a:ext cx="2371932" cy="853895"/>
          </a:xfrm>
          <a:custGeom>
            <a:avLst/>
            <a:gdLst/>
            <a:ahLst/>
            <a:cxnLst/>
            <a:rect r="r" b="b" t="t" l="l"/>
            <a:pathLst>
              <a:path h="853895" w="2371932">
                <a:moveTo>
                  <a:pt x="2371931" y="0"/>
                </a:moveTo>
                <a:lnTo>
                  <a:pt x="0" y="0"/>
                </a:lnTo>
                <a:lnTo>
                  <a:pt x="0" y="853895"/>
                </a:lnTo>
                <a:lnTo>
                  <a:pt x="2371931" y="853895"/>
                </a:lnTo>
                <a:lnTo>
                  <a:pt x="237193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286750" y="4102689"/>
            <a:ext cx="1281420" cy="1188226"/>
          </a:xfrm>
          <a:custGeom>
            <a:avLst/>
            <a:gdLst/>
            <a:ahLst/>
            <a:cxnLst/>
            <a:rect r="r" b="b" t="t" l="l"/>
            <a:pathLst>
              <a:path h="1188226" w="1281420">
                <a:moveTo>
                  <a:pt x="0" y="0"/>
                </a:moveTo>
                <a:lnTo>
                  <a:pt x="1281420" y="0"/>
                </a:lnTo>
                <a:lnTo>
                  <a:pt x="1281420" y="1188225"/>
                </a:lnTo>
                <a:lnTo>
                  <a:pt x="0" y="11882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3955689" y="3841139"/>
            <a:ext cx="12296495" cy="1898693"/>
          </a:xfrm>
          <a:prstGeom prst="rect">
            <a:avLst/>
          </a:prstGeom>
        </p:spPr>
        <p:txBody>
          <a:bodyPr anchor="t" rtlCol="false" tIns="0" lIns="0" bIns="0" rIns="0">
            <a:spAutoFit/>
          </a:bodyPr>
          <a:lstStyle/>
          <a:p>
            <a:pPr algn="just" marL="0" indent="0" lvl="0">
              <a:lnSpc>
                <a:spcPts val="2480"/>
              </a:lnSpc>
            </a:pPr>
            <a:r>
              <a:rPr lang="en-US" sz="2275">
                <a:solidFill>
                  <a:srgbClr val="18899D"/>
                </a:solidFill>
                <a:latin typeface="TS Qamus"/>
                <a:ea typeface="TS Qamus"/>
                <a:cs typeface="TS Qamus"/>
                <a:sym typeface="TS Qamus"/>
              </a:rPr>
              <a:t>The MERN Stack Expense Tracker is a comprehensive personal and family finance management application. Its core objective is to help individuals and families efficiently manage income, expenses, budgets, and savings — all in one unified platform. Designed for ease of use, the app provides real-time financial insights, automation of recurring entries, and collaborative tools for shared household finance management.</a:t>
            </a:r>
          </a:p>
        </p:txBody>
      </p:sp>
      <p:sp>
        <p:nvSpPr>
          <p:cNvPr name="TextBox 8" id="8"/>
          <p:cNvSpPr txBox="true"/>
          <p:nvPr/>
        </p:nvSpPr>
        <p:spPr>
          <a:xfrm rot="0">
            <a:off x="3955689" y="1085850"/>
            <a:ext cx="10376622" cy="1049066"/>
          </a:xfrm>
          <a:prstGeom prst="rect">
            <a:avLst/>
          </a:prstGeom>
        </p:spPr>
        <p:txBody>
          <a:bodyPr anchor="t" rtlCol="false" tIns="0" lIns="0" bIns="0" rIns="0">
            <a:spAutoFit/>
          </a:bodyPr>
          <a:lstStyle/>
          <a:p>
            <a:pPr algn="ctr" marL="0" indent="0" lvl="0">
              <a:lnSpc>
                <a:spcPts val="7914"/>
              </a:lnSpc>
            </a:pPr>
            <a:r>
              <a:rPr lang="en-US" b="true" sz="7261">
                <a:solidFill>
                  <a:srgbClr val="18899D"/>
                </a:solidFill>
                <a:latin typeface="TS Qamus Bold"/>
                <a:ea typeface="TS Qamus Bold"/>
                <a:cs typeface="TS Qamus Bold"/>
                <a:sym typeface="TS Qamus Bold"/>
              </a:rPr>
              <a:t>PROJECT OVERVIEW</a:t>
            </a:r>
          </a:p>
        </p:txBody>
      </p:sp>
      <p:sp>
        <p:nvSpPr>
          <p:cNvPr name="TextBox 9" id="9"/>
          <p:cNvSpPr txBox="true"/>
          <p:nvPr/>
        </p:nvSpPr>
        <p:spPr>
          <a:xfrm rot="0">
            <a:off x="3968220" y="6282223"/>
            <a:ext cx="12296495" cy="1584368"/>
          </a:xfrm>
          <a:prstGeom prst="rect">
            <a:avLst/>
          </a:prstGeom>
        </p:spPr>
        <p:txBody>
          <a:bodyPr anchor="t" rtlCol="false" tIns="0" lIns="0" bIns="0" rIns="0">
            <a:spAutoFit/>
          </a:bodyPr>
          <a:lstStyle/>
          <a:p>
            <a:pPr algn="just" marL="0" indent="0" lvl="0">
              <a:lnSpc>
                <a:spcPts val="2480"/>
              </a:lnSpc>
            </a:pPr>
            <a:r>
              <a:rPr lang="en-US" sz="2275">
                <a:solidFill>
                  <a:srgbClr val="18899D"/>
                </a:solidFill>
                <a:latin typeface="TS Qamus"/>
                <a:ea typeface="TS Qamus"/>
                <a:cs typeface="TS Qamus"/>
                <a:sym typeface="TS Qamus"/>
              </a:rPr>
              <a:t>Target users include individuals seeking better control over personal spending and families aiming for collaborative financial planning. Key benefits include real-time dashboards with actionable insights, automated transaction tracking, multi-user collaboration, detailed analytics across income and expense categories, and robust export capabilities — empowering smarter financial decisions every day.</a:t>
            </a:r>
          </a:p>
        </p:txBody>
      </p:sp>
      <p:sp>
        <p:nvSpPr>
          <p:cNvPr name="Freeform 10" id="10"/>
          <p:cNvSpPr/>
          <p:nvPr/>
        </p:nvSpPr>
        <p:spPr>
          <a:xfrm flipH="false" flipV="false" rot="0">
            <a:off x="2286750" y="6531424"/>
            <a:ext cx="1281420" cy="1188226"/>
          </a:xfrm>
          <a:custGeom>
            <a:avLst/>
            <a:gdLst/>
            <a:ahLst/>
            <a:cxnLst/>
            <a:rect r="r" b="b" t="t" l="l"/>
            <a:pathLst>
              <a:path h="1188226" w="1281420">
                <a:moveTo>
                  <a:pt x="0" y="0"/>
                </a:moveTo>
                <a:lnTo>
                  <a:pt x="1281420" y="0"/>
                </a:lnTo>
                <a:lnTo>
                  <a:pt x="1281420" y="1188226"/>
                </a:lnTo>
                <a:lnTo>
                  <a:pt x="0" y="11882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269682" y="7022192"/>
            <a:ext cx="2371932" cy="853895"/>
          </a:xfrm>
          <a:custGeom>
            <a:avLst/>
            <a:gdLst/>
            <a:ahLst/>
            <a:cxnLst/>
            <a:rect r="r" b="b" t="t" l="l"/>
            <a:pathLst>
              <a:path h="853895" w="2371932">
                <a:moveTo>
                  <a:pt x="0" y="0"/>
                </a:moveTo>
                <a:lnTo>
                  <a:pt x="2371931" y="0"/>
                </a:lnTo>
                <a:lnTo>
                  <a:pt x="2371931" y="853895"/>
                </a:lnTo>
                <a:lnTo>
                  <a:pt x="0" y="8538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TECHNOLOGY STACK</a:t>
            </a:r>
          </a:p>
        </p:txBody>
      </p:sp>
      <p:sp>
        <p:nvSpPr>
          <p:cNvPr name="Freeform 6" id="6"/>
          <p:cNvSpPr/>
          <p:nvPr/>
        </p:nvSpPr>
        <p:spPr>
          <a:xfrm flipH="true" flipV="false" rot="-5400000">
            <a:off x="15646387" y="1787718"/>
            <a:ext cx="2371932" cy="853895"/>
          </a:xfrm>
          <a:custGeom>
            <a:avLst/>
            <a:gdLst/>
            <a:ahLst/>
            <a:cxnLst/>
            <a:rect r="r" b="b" t="t" l="l"/>
            <a:pathLst>
              <a:path h="853895" w="2371932">
                <a:moveTo>
                  <a:pt x="2371931" y="0"/>
                </a:moveTo>
                <a:lnTo>
                  <a:pt x="0" y="0"/>
                </a:lnTo>
                <a:lnTo>
                  <a:pt x="0" y="853895"/>
                </a:lnTo>
                <a:lnTo>
                  <a:pt x="2371931" y="853895"/>
                </a:lnTo>
                <a:lnTo>
                  <a:pt x="237193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3704754" y="3699876"/>
            <a:ext cx="12296495" cy="1192380"/>
          </a:xfrm>
          <a:prstGeom prst="rect">
            <a:avLst/>
          </a:prstGeom>
        </p:spPr>
        <p:txBody>
          <a:bodyPr anchor="t" rtlCol="false" tIns="0" lIns="0" bIns="0" rIns="0">
            <a:spAutoFit/>
          </a:bodyPr>
          <a:lstStyle/>
          <a:p>
            <a:pPr algn="just" marL="0" indent="0" lvl="0">
              <a:lnSpc>
                <a:spcPts val="2366"/>
              </a:lnSpc>
            </a:pPr>
            <a:r>
              <a:rPr lang="en-US" sz="2171">
                <a:solidFill>
                  <a:srgbClr val="18899D"/>
                </a:solidFill>
                <a:latin typeface="TS Qamus"/>
                <a:ea typeface="TS Qamus"/>
                <a:cs typeface="TS Qamus"/>
                <a:sym typeface="TS Qamus"/>
              </a:rPr>
              <a:t>MongoDB &amp; Express.js: MongoDB provides a flexible, document-based database for storing all financial data including transactions, budgets, and user profiles. Express.js serves as the backend API framework, delivering a robust and scalable RESTful server architecture.</a:t>
            </a:r>
          </a:p>
        </p:txBody>
      </p:sp>
      <p:sp>
        <p:nvSpPr>
          <p:cNvPr name="Freeform 8" id="8"/>
          <p:cNvSpPr/>
          <p:nvPr/>
        </p:nvSpPr>
        <p:spPr>
          <a:xfrm flipH="false" flipV="false" rot="0">
            <a:off x="2446424" y="3765834"/>
            <a:ext cx="893610" cy="893610"/>
          </a:xfrm>
          <a:custGeom>
            <a:avLst/>
            <a:gdLst/>
            <a:ahLst/>
            <a:cxnLst/>
            <a:rect r="r" b="b" t="t" l="l"/>
            <a:pathLst>
              <a:path h="893610" w="893610">
                <a:moveTo>
                  <a:pt x="0" y="0"/>
                </a:moveTo>
                <a:lnTo>
                  <a:pt x="893609" y="0"/>
                </a:lnTo>
                <a:lnTo>
                  <a:pt x="893609" y="893609"/>
                </a:lnTo>
                <a:lnTo>
                  <a:pt x="0" y="8936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3704754" y="5442451"/>
            <a:ext cx="12296495" cy="897105"/>
          </a:xfrm>
          <a:prstGeom prst="rect">
            <a:avLst/>
          </a:prstGeom>
        </p:spPr>
        <p:txBody>
          <a:bodyPr anchor="t" rtlCol="false" tIns="0" lIns="0" bIns="0" rIns="0">
            <a:spAutoFit/>
          </a:bodyPr>
          <a:lstStyle/>
          <a:p>
            <a:pPr algn="just" marL="0" indent="0" lvl="0">
              <a:lnSpc>
                <a:spcPts val="2366"/>
              </a:lnSpc>
            </a:pPr>
            <a:r>
              <a:rPr lang="en-US" sz="2171">
                <a:solidFill>
                  <a:srgbClr val="18899D"/>
                </a:solidFill>
                <a:latin typeface="TS Qamus"/>
                <a:ea typeface="TS Qamus"/>
                <a:cs typeface="TS Qamus"/>
                <a:sym typeface="TS Qamus"/>
              </a:rPr>
              <a:t>React.js: A powerful frontend library used to build a responsive, dynamic single-page application. Features a modern dashboard UI with real-time updates, modular components, and intuitive navigation for seamless user experience.</a:t>
            </a:r>
          </a:p>
        </p:txBody>
      </p:sp>
      <p:sp>
        <p:nvSpPr>
          <p:cNvPr name="TextBox 10" id="10"/>
          <p:cNvSpPr txBox="true"/>
          <p:nvPr/>
        </p:nvSpPr>
        <p:spPr>
          <a:xfrm rot="0">
            <a:off x="3704754" y="7185026"/>
            <a:ext cx="12296495" cy="897105"/>
          </a:xfrm>
          <a:prstGeom prst="rect">
            <a:avLst/>
          </a:prstGeom>
        </p:spPr>
        <p:txBody>
          <a:bodyPr anchor="t" rtlCol="false" tIns="0" lIns="0" bIns="0" rIns="0">
            <a:spAutoFit/>
          </a:bodyPr>
          <a:lstStyle/>
          <a:p>
            <a:pPr algn="just" marL="0" indent="0" lvl="0">
              <a:lnSpc>
                <a:spcPts val="2366"/>
              </a:lnSpc>
            </a:pPr>
            <a:r>
              <a:rPr lang="en-US" sz="2171">
                <a:solidFill>
                  <a:srgbClr val="18899D"/>
                </a:solidFill>
                <a:latin typeface="TS Qamus"/>
                <a:ea typeface="TS Qamus"/>
                <a:cs typeface="TS Qamus"/>
                <a:sym typeface="TS Qamus"/>
              </a:rPr>
              <a:t>Node.js: The server-side JavaScript runtime powering the entire backend. Enables efficient asynchronous, event-driven operations to handle multiple concurrent users and real-time financial data processing with high performance.</a:t>
            </a:r>
          </a:p>
        </p:txBody>
      </p:sp>
      <p:sp>
        <p:nvSpPr>
          <p:cNvPr name="Freeform 11" id="11"/>
          <p:cNvSpPr/>
          <p:nvPr/>
        </p:nvSpPr>
        <p:spPr>
          <a:xfrm flipH="false" flipV="false" rot="0">
            <a:off x="2446424" y="5423401"/>
            <a:ext cx="893610" cy="893610"/>
          </a:xfrm>
          <a:custGeom>
            <a:avLst/>
            <a:gdLst/>
            <a:ahLst/>
            <a:cxnLst/>
            <a:rect r="r" b="b" t="t" l="l"/>
            <a:pathLst>
              <a:path h="893610" w="893610">
                <a:moveTo>
                  <a:pt x="0" y="0"/>
                </a:moveTo>
                <a:lnTo>
                  <a:pt x="893609" y="0"/>
                </a:lnTo>
                <a:lnTo>
                  <a:pt x="893609" y="893610"/>
                </a:lnTo>
                <a:lnTo>
                  <a:pt x="0" y="893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2446424" y="7080969"/>
            <a:ext cx="893610" cy="893610"/>
          </a:xfrm>
          <a:custGeom>
            <a:avLst/>
            <a:gdLst/>
            <a:ahLst/>
            <a:cxnLst/>
            <a:rect r="r" b="b" t="t" l="l"/>
            <a:pathLst>
              <a:path h="893610" w="893610">
                <a:moveTo>
                  <a:pt x="0" y="0"/>
                </a:moveTo>
                <a:lnTo>
                  <a:pt x="893609" y="0"/>
                </a:lnTo>
                <a:lnTo>
                  <a:pt x="893609" y="893609"/>
                </a:lnTo>
                <a:lnTo>
                  <a:pt x="0" y="8936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269682" y="7022192"/>
            <a:ext cx="2371932" cy="853895"/>
          </a:xfrm>
          <a:custGeom>
            <a:avLst/>
            <a:gdLst/>
            <a:ahLst/>
            <a:cxnLst/>
            <a:rect r="r" b="b" t="t" l="l"/>
            <a:pathLst>
              <a:path h="853895" w="2371932">
                <a:moveTo>
                  <a:pt x="0" y="0"/>
                </a:moveTo>
                <a:lnTo>
                  <a:pt x="2371931" y="0"/>
                </a:lnTo>
                <a:lnTo>
                  <a:pt x="2371931" y="853895"/>
                </a:lnTo>
                <a:lnTo>
                  <a:pt x="0" y="8538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4366577" y="1222444"/>
            <a:ext cx="10376622" cy="1042905"/>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LOGIN DASHBOARD</a:t>
            </a:r>
          </a:p>
        </p:txBody>
      </p:sp>
      <p:sp>
        <p:nvSpPr>
          <p:cNvPr name="Freeform 6" id="6"/>
          <p:cNvSpPr/>
          <p:nvPr/>
        </p:nvSpPr>
        <p:spPr>
          <a:xfrm flipH="true" flipV="false" rot="-5400000">
            <a:off x="15646387" y="1787718"/>
            <a:ext cx="2371932" cy="853895"/>
          </a:xfrm>
          <a:custGeom>
            <a:avLst/>
            <a:gdLst/>
            <a:ahLst/>
            <a:cxnLst/>
            <a:rect r="r" b="b" t="t" l="l"/>
            <a:pathLst>
              <a:path h="853895" w="2371932">
                <a:moveTo>
                  <a:pt x="2371931" y="0"/>
                </a:moveTo>
                <a:lnTo>
                  <a:pt x="0" y="0"/>
                </a:lnTo>
                <a:lnTo>
                  <a:pt x="0" y="853895"/>
                </a:lnTo>
                <a:lnTo>
                  <a:pt x="2371931" y="853895"/>
                </a:lnTo>
                <a:lnTo>
                  <a:pt x="237193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3704754" y="3784884"/>
            <a:ext cx="12296495" cy="1104115"/>
          </a:xfrm>
          <a:prstGeom prst="rect">
            <a:avLst/>
          </a:prstGeom>
        </p:spPr>
        <p:txBody>
          <a:bodyPr anchor="t" rtlCol="false" tIns="0" lIns="0" bIns="0" rIns="0">
            <a:spAutoFit/>
          </a:bodyPr>
          <a:lstStyle/>
          <a:p>
            <a:pPr algn="just" marL="576686" indent="-288343" lvl="1">
              <a:lnSpc>
                <a:spcPts val="2911"/>
              </a:lnSpc>
              <a:buFont typeface="Arial"/>
              <a:buChar char="•"/>
            </a:pPr>
            <a:r>
              <a:rPr lang="en-US" sz="2671">
                <a:solidFill>
                  <a:srgbClr val="18899D"/>
                </a:solidFill>
                <a:latin typeface="TS Qamus"/>
                <a:ea typeface="TS Qamus"/>
                <a:cs typeface="TS Qamus"/>
                <a:sym typeface="TS Qamus"/>
              </a:rPr>
              <a:t>Cl</a:t>
            </a:r>
            <a:r>
              <a:rPr lang="en-US" sz="2671">
                <a:solidFill>
                  <a:srgbClr val="18899D"/>
                </a:solidFill>
                <a:latin typeface="TS Qamus"/>
                <a:ea typeface="TS Qamus"/>
                <a:cs typeface="TS Qamus"/>
                <a:sym typeface="TS Qamus"/>
              </a:rPr>
              <a:t>ean and modern finance management interface.</a:t>
            </a:r>
          </a:p>
          <a:p>
            <a:pPr algn="just" marL="576686" indent="-288343" lvl="1">
              <a:lnSpc>
                <a:spcPts val="2911"/>
              </a:lnSpc>
              <a:buFont typeface="Arial"/>
              <a:buChar char="•"/>
            </a:pPr>
            <a:r>
              <a:rPr lang="en-US" sz="2671">
                <a:solidFill>
                  <a:srgbClr val="18899D"/>
                </a:solidFill>
                <a:latin typeface="TS Qamus"/>
                <a:ea typeface="TS Qamus"/>
                <a:cs typeface="TS Qamus"/>
                <a:sym typeface="TS Qamus"/>
              </a:rPr>
              <a:t>Secure login with email and password.</a:t>
            </a:r>
          </a:p>
          <a:p>
            <a:pPr algn="just" marL="0" indent="0" lvl="0">
              <a:lnSpc>
                <a:spcPts val="2911"/>
              </a:lnSpc>
            </a:pPr>
          </a:p>
        </p:txBody>
      </p:sp>
      <p:sp>
        <p:nvSpPr>
          <p:cNvPr name="Freeform 8" id="8"/>
          <p:cNvSpPr/>
          <p:nvPr/>
        </p:nvSpPr>
        <p:spPr>
          <a:xfrm flipH="false" flipV="false" rot="0">
            <a:off x="2446424" y="3765834"/>
            <a:ext cx="893610" cy="893610"/>
          </a:xfrm>
          <a:custGeom>
            <a:avLst/>
            <a:gdLst/>
            <a:ahLst/>
            <a:cxnLst/>
            <a:rect r="r" b="b" t="t" l="l"/>
            <a:pathLst>
              <a:path h="893610" w="893610">
                <a:moveTo>
                  <a:pt x="0" y="0"/>
                </a:moveTo>
                <a:lnTo>
                  <a:pt x="893609" y="0"/>
                </a:lnTo>
                <a:lnTo>
                  <a:pt x="893609" y="893609"/>
                </a:lnTo>
                <a:lnTo>
                  <a:pt x="0" y="8936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3704754" y="5442451"/>
            <a:ext cx="12296495" cy="1104115"/>
          </a:xfrm>
          <a:prstGeom prst="rect">
            <a:avLst/>
          </a:prstGeom>
        </p:spPr>
        <p:txBody>
          <a:bodyPr anchor="t" rtlCol="false" tIns="0" lIns="0" bIns="0" rIns="0">
            <a:spAutoFit/>
          </a:bodyPr>
          <a:lstStyle/>
          <a:p>
            <a:pPr algn="just" marL="576686" indent="-288343" lvl="1">
              <a:lnSpc>
                <a:spcPts val="2911"/>
              </a:lnSpc>
              <a:buFont typeface="Arial"/>
              <a:buChar char="•"/>
            </a:pPr>
            <a:r>
              <a:rPr lang="en-US" sz="2671">
                <a:solidFill>
                  <a:srgbClr val="18899D"/>
                </a:solidFill>
                <a:latin typeface="TS Qamus"/>
                <a:ea typeface="TS Qamus"/>
                <a:cs typeface="TS Qamus"/>
                <a:sym typeface="TS Qamus"/>
              </a:rPr>
              <a:t>G</a:t>
            </a:r>
            <a:r>
              <a:rPr lang="en-US" sz="2671">
                <a:solidFill>
                  <a:srgbClr val="18899D"/>
                </a:solidFill>
                <a:latin typeface="TS Qamus"/>
                <a:ea typeface="TS Qamus"/>
                <a:cs typeface="TS Qamus"/>
                <a:sym typeface="TS Qamus"/>
              </a:rPr>
              <a:t>oogle Sign-In for quick authentication.</a:t>
            </a:r>
          </a:p>
          <a:p>
            <a:pPr algn="just" marL="576686" indent="-288343" lvl="1">
              <a:lnSpc>
                <a:spcPts val="2911"/>
              </a:lnSpc>
              <a:buFont typeface="Arial"/>
              <a:buChar char="•"/>
            </a:pPr>
            <a:r>
              <a:rPr lang="en-US" sz="2671">
                <a:solidFill>
                  <a:srgbClr val="18899D"/>
                </a:solidFill>
                <a:latin typeface="TS Qamus"/>
                <a:ea typeface="TS Qamus"/>
                <a:cs typeface="TS Qamus"/>
                <a:sym typeface="TS Qamus"/>
              </a:rPr>
              <a:t>"Forgot Password" and password reset options.</a:t>
            </a:r>
          </a:p>
          <a:p>
            <a:pPr algn="just" marL="0" indent="0" lvl="0">
              <a:lnSpc>
                <a:spcPts val="2911"/>
              </a:lnSpc>
            </a:pPr>
          </a:p>
        </p:txBody>
      </p:sp>
      <p:sp>
        <p:nvSpPr>
          <p:cNvPr name="TextBox 10" id="10"/>
          <p:cNvSpPr txBox="true"/>
          <p:nvPr/>
        </p:nvSpPr>
        <p:spPr>
          <a:xfrm rot="0">
            <a:off x="3704754" y="7185026"/>
            <a:ext cx="12296495" cy="1104115"/>
          </a:xfrm>
          <a:prstGeom prst="rect">
            <a:avLst/>
          </a:prstGeom>
        </p:spPr>
        <p:txBody>
          <a:bodyPr anchor="t" rtlCol="false" tIns="0" lIns="0" bIns="0" rIns="0">
            <a:spAutoFit/>
          </a:bodyPr>
          <a:lstStyle/>
          <a:p>
            <a:pPr algn="just" marL="576686" indent="-288343" lvl="1">
              <a:lnSpc>
                <a:spcPts val="2911"/>
              </a:lnSpc>
              <a:buFont typeface="Arial"/>
              <a:buChar char="•"/>
            </a:pPr>
            <a:r>
              <a:rPr lang="en-US" sz="2671">
                <a:solidFill>
                  <a:srgbClr val="18899D"/>
                </a:solidFill>
                <a:latin typeface="TS Qamus"/>
                <a:ea typeface="TS Qamus"/>
                <a:cs typeface="TS Qamus"/>
                <a:sym typeface="TS Qamus"/>
              </a:rPr>
              <a:t>Email &amp; M</a:t>
            </a:r>
            <a:r>
              <a:rPr lang="en-US" sz="2671">
                <a:solidFill>
                  <a:srgbClr val="18899D"/>
                </a:solidFill>
                <a:latin typeface="TS Qamus"/>
                <a:ea typeface="TS Qamus"/>
                <a:cs typeface="TS Qamus"/>
                <a:sym typeface="TS Qamus"/>
              </a:rPr>
              <a:t>obile OTP verification for enhanced security.</a:t>
            </a:r>
          </a:p>
          <a:p>
            <a:pPr algn="just" marL="576686" indent="-288343" lvl="1">
              <a:lnSpc>
                <a:spcPts val="2911"/>
              </a:lnSpc>
              <a:buFont typeface="Arial"/>
              <a:buChar char="•"/>
            </a:pPr>
            <a:r>
              <a:rPr lang="en-US" sz="2671">
                <a:solidFill>
                  <a:srgbClr val="18899D"/>
                </a:solidFill>
                <a:latin typeface="TS Qamus"/>
                <a:ea typeface="TS Qamus"/>
                <a:cs typeface="TS Qamus"/>
                <a:sym typeface="TS Qamus"/>
              </a:rPr>
              <a:t>Remember Me option for seamless access.</a:t>
            </a:r>
          </a:p>
          <a:p>
            <a:pPr algn="just" marL="0" indent="0" lvl="0">
              <a:lnSpc>
                <a:spcPts val="2911"/>
              </a:lnSpc>
            </a:pPr>
          </a:p>
        </p:txBody>
      </p:sp>
      <p:sp>
        <p:nvSpPr>
          <p:cNvPr name="Freeform 11" id="11"/>
          <p:cNvSpPr/>
          <p:nvPr/>
        </p:nvSpPr>
        <p:spPr>
          <a:xfrm flipH="false" flipV="false" rot="0">
            <a:off x="2446424" y="5423401"/>
            <a:ext cx="893610" cy="893610"/>
          </a:xfrm>
          <a:custGeom>
            <a:avLst/>
            <a:gdLst/>
            <a:ahLst/>
            <a:cxnLst/>
            <a:rect r="r" b="b" t="t" l="l"/>
            <a:pathLst>
              <a:path h="893610" w="893610">
                <a:moveTo>
                  <a:pt x="0" y="0"/>
                </a:moveTo>
                <a:lnTo>
                  <a:pt x="893609" y="0"/>
                </a:lnTo>
                <a:lnTo>
                  <a:pt x="893609" y="893610"/>
                </a:lnTo>
                <a:lnTo>
                  <a:pt x="0" y="893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2446424" y="7080969"/>
            <a:ext cx="893610" cy="893610"/>
          </a:xfrm>
          <a:custGeom>
            <a:avLst/>
            <a:gdLst/>
            <a:ahLst/>
            <a:cxnLst/>
            <a:rect r="r" b="b" t="t" l="l"/>
            <a:pathLst>
              <a:path h="893610" w="893610">
                <a:moveTo>
                  <a:pt x="0" y="0"/>
                </a:moveTo>
                <a:lnTo>
                  <a:pt x="893609" y="0"/>
                </a:lnTo>
                <a:lnTo>
                  <a:pt x="893609" y="893609"/>
                </a:lnTo>
                <a:lnTo>
                  <a:pt x="0" y="8936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269682" y="7022192"/>
            <a:ext cx="2371932" cy="853895"/>
          </a:xfrm>
          <a:custGeom>
            <a:avLst/>
            <a:gdLst/>
            <a:ahLst/>
            <a:cxnLst/>
            <a:rect r="r" b="b" t="t" l="l"/>
            <a:pathLst>
              <a:path h="853895" w="2371932">
                <a:moveTo>
                  <a:pt x="0" y="0"/>
                </a:moveTo>
                <a:lnTo>
                  <a:pt x="2371931" y="0"/>
                </a:lnTo>
                <a:lnTo>
                  <a:pt x="2371931" y="853895"/>
                </a:lnTo>
                <a:lnTo>
                  <a:pt x="0" y="8538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5400000">
            <a:off x="15646387" y="1787718"/>
            <a:ext cx="2371932" cy="853895"/>
          </a:xfrm>
          <a:custGeom>
            <a:avLst/>
            <a:gdLst/>
            <a:ahLst/>
            <a:cxnLst/>
            <a:rect r="r" b="b" t="t" l="l"/>
            <a:pathLst>
              <a:path h="853895" w="2371932">
                <a:moveTo>
                  <a:pt x="2371931" y="0"/>
                </a:moveTo>
                <a:lnTo>
                  <a:pt x="0" y="0"/>
                </a:lnTo>
                <a:lnTo>
                  <a:pt x="0" y="853895"/>
                </a:lnTo>
                <a:lnTo>
                  <a:pt x="2371931" y="853895"/>
                </a:lnTo>
                <a:lnTo>
                  <a:pt x="237193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446424" y="3765834"/>
            <a:ext cx="893610" cy="893610"/>
          </a:xfrm>
          <a:custGeom>
            <a:avLst/>
            <a:gdLst/>
            <a:ahLst/>
            <a:cxnLst/>
            <a:rect r="r" b="b" t="t" l="l"/>
            <a:pathLst>
              <a:path h="893610" w="893610">
                <a:moveTo>
                  <a:pt x="0" y="0"/>
                </a:moveTo>
                <a:lnTo>
                  <a:pt x="893609" y="0"/>
                </a:lnTo>
                <a:lnTo>
                  <a:pt x="893609" y="893609"/>
                </a:lnTo>
                <a:lnTo>
                  <a:pt x="0" y="8936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446424" y="5423401"/>
            <a:ext cx="893610" cy="893610"/>
          </a:xfrm>
          <a:custGeom>
            <a:avLst/>
            <a:gdLst/>
            <a:ahLst/>
            <a:cxnLst/>
            <a:rect r="r" b="b" t="t" l="l"/>
            <a:pathLst>
              <a:path h="893610" w="893610">
                <a:moveTo>
                  <a:pt x="0" y="0"/>
                </a:moveTo>
                <a:lnTo>
                  <a:pt x="893609" y="0"/>
                </a:lnTo>
                <a:lnTo>
                  <a:pt x="893609" y="893610"/>
                </a:lnTo>
                <a:lnTo>
                  <a:pt x="0" y="893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446424" y="7080969"/>
            <a:ext cx="893610" cy="893610"/>
          </a:xfrm>
          <a:custGeom>
            <a:avLst/>
            <a:gdLst/>
            <a:ahLst/>
            <a:cxnLst/>
            <a:rect r="r" b="b" t="t" l="l"/>
            <a:pathLst>
              <a:path h="893610" w="893610">
                <a:moveTo>
                  <a:pt x="0" y="0"/>
                </a:moveTo>
                <a:lnTo>
                  <a:pt x="893609" y="0"/>
                </a:lnTo>
                <a:lnTo>
                  <a:pt x="893609" y="893609"/>
                </a:lnTo>
                <a:lnTo>
                  <a:pt x="0" y="8936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723294" y="364574"/>
            <a:ext cx="14841413" cy="9091179"/>
          </a:xfrm>
          <a:custGeom>
            <a:avLst/>
            <a:gdLst/>
            <a:ahLst/>
            <a:cxnLst/>
            <a:rect r="r" b="b" t="t" l="l"/>
            <a:pathLst>
              <a:path h="9091179" w="14841413">
                <a:moveTo>
                  <a:pt x="0" y="0"/>
                </a:moveTo>
                <a:lnTo>
                  <a:pt x="14841412" y="0"/>
                </a:lnTo>
                <a:lnTo>
                  <a:pt x="14841412" y="9091179"/>
                </a:lnTo>
                <a:lnTo>
                  <a:pt x="0" y="9091179"/>
                </a:lnTo>
                <a:lnTo>
                  <a:pt x="0" y="0"/>
                </a:lnTo>
                <a:close/>
              </a:path>
            </a:pathLst>
          </a:custGeom>
          <a:blipFill>
            <a:blip r:embed="rId8"/>
            <a:stretch>
              <a:fillRect l="-645" t="-897" r="0" b="-7638"/>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269682" y="7022192"/>
            <a:ext cx="2371932" cy="853895"/>
          </a:xfrm>
          <a:custGeom>
            <a:avLst/>
            <a:gdLst/>
            <a:ahLst/>
            <a:cxnLst/>
            <a:rect r="r" b="b" t="t" l="l"/>
            <a:pathLst>
              <a:path h="853895" w="2371932">
                <a:moveTo>
                  <a:pt x="0" y="0"/>
                </a:moveTo>
                <a:lnTo>
                  <a:pt x="2371931" y="0"/>
                </a:lnTo>
                <a:lnTo>
                  <a:pt x="2371931" y="853895"/>
                </a:lnTo>
                <a:lnTo>
                  <a:pt x="0" y="8538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4366577" y="1222444"/>
            <a:ext cx="10376622" cy="1042905"/>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USER REGISTRATION</a:t>
            </a:r>
          </a:p>
        </p:txBody>
      </p:sp>
      <p:sp>
        <p:nvSpPr>
          <p:cNvPr name="Freeform 6" id="6"/>
          <p:cNvSpPr/>
          <p:nvPr/>
        </p:nvSpPr>
        <p:spPr>
          <a:xfrm flipH="true" flipV="false" rot="-5400000">
            <a:off x="15646387" y="1787718"/>
            <a:ext cx="2371932" cy="853895"/>
          </a:xfrm>
          <a:custGeom>
            <a:avLst/>
            <a:gdLst/>
            <a:ahLst/>
            <a:cxnLst/>
            <a:rect r="r" b="b" t="t" l="l"/>
            <a:pathLst>
              <a:path h="853895" w="2371932">
                <a:moveTo>
                  <a:pt x="2371931" y="0"/>
                </a:moveTo>
                <a:lnTo>
                  <a:pt x="0" y="0"/>
                </a:lnTo>
                <a:lnTo>
                  <a:pt x="0" y="853895"/>
                </a:lnTo>
                <a:lnTo>
                  <a:pt x="2371931" y="853895"/>
                </a:lnTo>
                <a:lnTo>
                  <a:pt x="237193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3704754" y="3632701"/>
            <a:ext cx="12296495" cy="1104115"/>
          </a:xfrm>
          <a:prstGeom prst="rect">
            <a:avLst/>
          </a:prstGeom>
        </p:spPr>
        <p:txBody>
          <a:bodyPr anchor="t" rtlCol="false" tIns="0" lIns="0" bIns="0" rIns="0">
            <a:spAutoFit/>
          </a:bodyPr>
          <a:lstStyle/>
          <a:p>
            <a:pPr algn="just" marL="576686" indent="-288343" lvl="1">
              <a:lnSpc>
                <a:spcPts val="2911"/>
              </a:lnSpc>
              <a:buFont typeface="Arial"/>
              <a:buChar char="•"/>
            </a:pPr>
            <a:r>
              <a:rPr lang="en-US" sz="2671">
                <a:solidFill>
                  <a:srgbClr val="18899D"/>
                </a:solidFill>
                <a:latin typeface="TS Qamus"/>
                <a:ea typeface="TS Qamus"/>
                <a:cs typeface="TS Qamus"/>
                <a:sym typeface="TS Qamus"/>
              </a:rPr>
              <a:t>Compl</a:t>
            </a:r>
            <a:r>
              <a:rPr lang="en-US" sz="2671">
                <a:solidFill>
                  <a:srgbClr val="18899D"/>
                </a:solidFill>
                <a:latin typeface="TS Qamus"/>
                <a:ea typeface="TS Qamus"/>
                <a:cs typeface="TS Qamus"/>
                <a:sym typeface="TS Qamus"/>
              </a:rPr>
              <a:t>ete account registration form.</a:t>
            </a:r>
          </a:p>
          <a:p>
            <a:pPr algn="just" marL="576686" indent="-288343" lvl="1">
              <a:lnSpc>
                <a:spcPts val="2911"/>
              </a:lnSpc>
              <a:buFont typeface="Arial"/>
              <a:buChar char="•"/>
            </a:pPr>
            <a:r>
              <a:rPr lang="en-US" sz="2671">
                <a:solidFill>
                  <a:srgbClr val="18899D"/>
                </a:solidFill>
                <a:latin typeface="TS Qamus"/>
                <a:ea typeface="TS Qamus"/>
                <a:cs typeface="TS Qamus"/>
                <a:sym typeface="TS Qamus"/>
              </a:rPr>
              <a:t>Collects user details:</a:t>
            </a:r>
          </a:p>
          <a:p>
            <a:pPr algn="just" marL="0" indent="0" lvl="0">
              <a:lnSpc>
                <a:spcPts val="2911"/>
              </a:lnSpc>
            </a:pPr>
          </a:p>
        </p:txBody>
      </p:sp>
      <p:sp>
        <p:nvSpPr>
          <p:cNvPr name="Freeform 8" id="8"/>
          <p:cNvSpPr/>
          <p:nvPr/>
        </p:nvSpPr>
        <p:spPr>
          <a:xfrm flipH="false" flipV="false" rot="0">
            <a:off x="2446424" y="3765834"/>
            <a:ext cx="893610" cy="893610"/>
          </a:xfrm>
          <a:custGeom>
            <a:avLst/>
            <a:gdLst/>
            <a:ahLst/>
            <a:cxnLst/>
            <a:rect r="r" b="b" t="t" l="l"/>
            <a:pathLst>
              <a:path h="893610" w="893610">
                <a:moveTo>
                  <a:pt x="0" y="0"/>
                </a:moveTo>
                <a:lnTo>
                  <a:pt x="893609" y="0"/>
                </a:lnTo>
                <a:lnTo>
                  <a:pt x="893609" y="893609"/>
                </a:lnTo>
                <a:lnTo>
                  <a:pt x="0" y="8936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3704754" y="5442451"/>
            <a:ext cx="12296495" cy="1466065"/>
          </a:xfrm>
          <a:prstGeom prst="rect">
            <a:avLst/>
          </a:prstGeom>
        </p:spPr>
        <p:txBody>
          <a:bodyPr anchor="t" rtlCol="false" tIns="0" lIns="0" bIns="0" rIns="0">
            <a:spAutoFit/>
          </a:bodyPr>
          <a:lstStyle/>
          <a:p>
            <a:pPr algn="just" marL="576686" indent="-288343" lvl="1">
              <a:lnSpc>
                <a:spcPts val="2911"/>
              </a:lnSpc>
              <a:buFont typeface="Arial"/>
              <a:buChar char="•"/>
            </a:pPr>
            <a:r>
              <a:rPr lang="en-US" sz="2671">
                <a:solidFill>
                  <a:srgbClr val="18899D"/>
                </a:solidFill>
                <a:latin typeface="TS Qamus"/>
                <a:ea typeface="TS Qamus"/>
                <a:cs typeface="TS Qamus"/>
                <a:sym typeface="TS Qamus"/>
              </a:rPr>
              <a:t>F</a:t>
            </a:r>
            <a:r>
              <a:rPr lang="en-US" sz="2671">
                <a:solidFill>
                  <a:srgbClr val="18899D"/>
                </a:solidFill>
                <a:latin typeface="TS Qamus"/>
                <a:ea typeface="TS Qamus"/>
                <a:cs typeface="TS Qamus"/>
                <a:sym typeface="TS Qamus"/>
              </a:rPr>
              <a:t>ull Name</a:t>
            </a:r>
          </a:p>
          <a:p>
            <a:pPr algn="just" marL="576686" indent="-288343" lvl="1">
              <a:lnSpc>
                <a:spcPts val="2911"/>
              </a:lnSpc>
              <a:buFont typeface="Arial"/>
              <a:buChar char="•"/>
            </a:pPr>
            <a:r>
              <a:rPr lang="en-US" sz="2671">
                <a:solidFill>
                  <a:srgbClr val="18899D"/>
                </a:solidFill>
                <a:latin typeface="TS Qamus"/>
                <a:ea typeface="TS Qamus"/>
                <a:cs typeface="TS Qamus"/>
                <a:sym typeface="TS Qamus"/>
              </a:rPr>
              <a:t>Phone Number</a:t>
            </a:r>
          </a:p>
          <a:p>
            <a:pPr algn="just" marL="576686" indent="-288343" lvl="1">
              <a:lnSpc>
                <a:spcPts val="2911"/>
              </a:lnSpc>
              <a:buFont typeface="Arial"/>
              <a:buChar char="•"/>
            </a:pPr>
            <a:r>
              <a:rPr lang="en-US" sz="2671">
                <a:solidFill>
                  <a:srgbClr val="18899D"/>
                </a:solidFill>
                <a:latin typeface="TS Qamus"/>
                <a:ea typeface="TS Qamus"/>
                <a:cs typeface="TS Qamus"/>
                <a:sym typeface="TS Qamus"/>
              </a:rPr>
              <a:t>Country</a:t>
            </a:r>
          </a:p>
          <a:p>
            <a:pPr algn="just" marL="0" indent="0" lvl="0">
              <a:lnSpc>
                <a:spcPts val="2911"/>
              </a:lnSpc>
            </a:pPr>
          </a:p>
        </p:txBody>
      </p:sp>
      <p:sp>
        <p:nvSpPr>
          <p:cNvPr name="TextBox 10" id="10"/>
          <p:cNvSpPr txBox="true"/>
          <p:nvPr/>
        </p:nvSpPr>
        <p:spPr>
          <a:xfrm rot="0">
            <a:off x="3704754" y="7185026"/>
            <a:ext cx="12296495" cy="1466065"/>
          </a:xfrm>
          <a:prstGeom prst="rect">
            <a:avLst/>
          </a:prstGeom>
        </p:spPr>
        <p:txBody>
          <a:bodyPr anchor="t" rtlCol="false" tIns="0" lIns="0" bIns="0" rIns="0">
            <a:spAutoFit/>
          </a:bodyPr>
          <a:lstStyle/>
          <a:p>
            <a:pPr algn="just" marL="576686" indent="-288343" lvl="1">
              <a:lnSpc>
                <a:spcPts val="2911"/>
              </a:lnSpc>
              <a:buFont typeface="Arial"/>
              <a:buChar char="•"/>
            </a:pPr>
            <a:r>
              <a:rPr lang="en-US" sz="2671">
                <a:solidFill>
                  <a:srgbClr val="18899D"/>
                </a:solidFill>
                <a:latin typeface="TS Qamus"/>
                <a:ea typeface="TS Qamus"/>
                <a:cs typeface="TS Qamus"/>
                <a:sym typeface="TS Qamus"/>
              </a:rPr>
              <a:t>Email</a:t>
            </a:r>
          </a:p>
          <a:p>
            <a:pPr algn="just" marL="576686" indent="-288343" lvl="1">
              <a:lnSpc>
                <a:spcPts val="2911"/>
              </a:lnSpc>
              <a:buFont typeface="Arial"/>
              <a:buChar char="•"/>
            </a:pPr>
            <a:r>
              <a:rPr lang="en-US" sz="2671">
                <a:solidFill>
                  <a:srgbClr val="18899D"/>
                </a:solidFill>
                <a:latin typeface="TS Qamus"/>
                <a:ea typeface="TS Qamus"/>
                <a:cs typeface="TS Qamus"/>
                <a:sym typeface="TS Qamus"/>
              </a:rPr>
              <a:t>Password</a:t>
            </a:r>
          </a:p>
          <a:p>
            <a:pPr algn="just" marL="576686" indent="-288343" lvl="1">
              <a:lnSpc>
                <a:spcPts val="2911"/>
              </a:lnSpc>
              <a:buFont typeface="Arial"/>
              <a:buChar char="•"/>
            </a:pPr>
            <a:r>
              <a:rPr lang="en-US" sz="2671">
                <a:solidFill>
                  <a:srgbClr val="18899D"/>
                </a:solidFill>
                <a:latin typeface="TS Qamus"/>
                <a:ea typeface="TS Qamus"/>
                <a:cs typeface="TS Qamus"/>
                <a:sym typeface="TS Qamus"/>
              </a:rPr>
              <a:t>Currency</a:t>
            </a:r>
          </a:p>
          <a:p>
            <a:pPr algn="just" marL="0" indent="0" lvl="0">
              <a:lnSpc>
                <a:spcPts val="2911"/>
              </a:lnSpc>
            </a:pPr>
          </a:p>
        </p:txBody>
      </p:sp>
      <p:sp>
        <p:nvSpPr>
          <p:cNvPr name="Freeform 11" id="11"/>
          <p:cNvSpPr/>
          <p:nvPr/>
        </p:nvSpPr>
        <p:spPr>
          <a:xfrm flipH="false" flipV="false" rot="0">
            <a:off x="2446424" y="5423401"/>
            <a:ext cx="893610" cy="893610"/>
          </a:xfrm>
          <a:custGeom>
            <a:avLst/>
            <a:gdLst/>
            <a:ahLst/>
            <a:cxnLst/>
            <a:rect r="r" b="b" t="t" l="l"/>
            <a:pathLst>
              <a:path h="893610" w="893610">
                <a:moveTo>
                  <a:pt x="0" y="0"/>
                </a:moveTo>
                <a:lnTo>
                  <a:pt x="893609" y="0"/>
                </a:lnTo>
                <a:lnTo>
                  <a:pt x="893609" y="893610"/>
                </a:lnTo>
                <a:lnTo>
                  <a:pt x="0" y="893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2446424" y="7080969"/>
            <a:ext cx="893610" cy="893610"/>
          </a:xfrm>
          <a:custGeom>
            <a:avLst/>
            <a:gdLst/>
            <a:ahLst/>
            <a:cxnLst/>
            <a:rect r="r" b="b" t="t" l="l"/>
            <a:pathLst>
              <a:path h="893610" w="893610">
                <a:moveTo>
                  <a:pt x="0" y="0"/>
                </a:moveTo>
                <a:lnTo>
                  <a:pt x="893609" y="0"/>
                </a:lnTo>
                <a:lnTo>
                  <a:pt x="893609" y="893609"/>
                </a:lnTo>
                <a:lnTo>
                  <a:pt x="0" y="8936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269682" y="7022192"/>
            <a:ext cx="2371932" cy="853895"/>
          </a:xfrm>
          <a:custGeom>
            <a:avLst/>
            <a:gdLst/>
            <a:ahLst/>
            <a:cxnLst/>
            <a:rect r="r" b="b" t="t" l="l"/>
            <a:pathLst>
              <a:path h="853895" w="2371932">
                <a:moveTo>
                  <a:pt x="0" y="0"/>
                </a:moveTo>
                <a:lnTo>
                  <a:pt x="2371931" y="0"/>
                </a:lnTo>
                <a:lnTo>
                  <a:pt x="2371931" y="853895"/>
                </a:lnTo>
                <a:lnTo>
                  <a:pt x="0" y="8538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5400000">
            <a:off x="15646387" y="1787718"/>
            <a:ext cx="2371932" cy="853895"/>
          </a:xfrm>
          <a:custGeom>
            <a:avLst/>
            <a:gdLst/>
            <a:ahLst/>
            <a:cxnLst/>
            <a:rect r="r" b="b" t="t" l="l"/>
            <a:pathLst>
              <a:path h="853895" w="2371932">
                <a:moveTo>
                  <a:pt x="2371931" y="0"/>
                </a:moveTo>
                <a:lnTo>
                  <a:pt x="0" y="0"/>
                </a:lnTo>
                <a:lnTo>
                  <a:pt x="0" y="853895"/>
                </a:lnTo>
                <a:lnTo>
                  <a:pt x="2371931" y="853895"/>
                </a:lnTo>
                <a:lnTo>
                  <a:pt x="237193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110754" y="2215099"/>
            <a:ext cx="14066491" cy="5785151"/>
          </a:xfrm>
          <a:custGeom>
            <a:avLst/>
            <a:gdLst/>
            <a:ahLst/>
            <a:cxnLst/>
            <a:rect r="r" b="b" t="t" l="l"/>
            <a:pathLst>
              <a:path h="5785151" w="14066491">
                <a:moveTo>
                  <a:pt x="0" y="0"/>
                </a:moveTo>
                <a:lnTo>
                  <a:pt x="14066492" y="0"/>
                </a:lnTo>
                <a:lnTo>
                  <a:pt x="14066492" y="5785151"/>
                </a:lnTo>
                <a:lnTo>
                  <a:pt x="0" y="5785151"/>
                </a:lnTo>
                <a:lnTo>
                  <a:pt x="0" y="0"/>
                </a:lnTo>
                <a:close/>
              </a:path>
            </a:pathLst>
          </a:custGeom>
          <a:blipFill>
            <a:blip r:embed="rId6"/>
            <a:stretch>
              <a:fillRect l="-1431" t="-15212" r="-1431" b="-49101"/>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567313" cy="4492625"/>
            <a:chOff x="0" y="0"/>
            <a:chExt cx="826312" cy="812800"/>
          </a:xfrm>
        </p:grpSpPr>
        <p:sp>
          <p:nvSpPr>
            <p:cNvPr name="Freeform 7" id="7"/>
            <p:cNvSpPr/>
            <p:nvPr/>
          </p:nvSpPr>
          <p:spPr>
            <a:xfrm flipH="false" flipV="false" rot="0">
              <a:off x="0" y="0"/>
              <a:ext cx="826312" cy="812800"/>
            </a:xfrm>
            <a:custGeom>
              <a:avLst/>
              <a:gdLst/>
              <a:ahLst/>
              <a:cxnLst/>
              <a:rect r="r" b="b" t="t" l="l"/>
              <a:pathLst>
                <a:path h="812800" w="826312">
                  <a:moveTo>
                    <a:pt x="413156" y="0"/>
                  </a:moveTo>
                  <a:cubicBezTo>
                    <a:pt x="184976" y="0"/>
                    <a:pt x="0" y="181951"/>
                    <a:pt x="0" y="406400"/>
                  </a:cubicBezTo>
                  <a:cubicBezTo>
                    <a:pt x="0" y="630849"/>
                    <a:pt x="184976" y="812800"/>
                    <a:pt x="413156" y="812800"/>
                  </a:cubicBezTo>
                  <a:cubicBezTo>
                    <a:pt x="641336" y="812800"/>
                    <a:pt x="826312" y="630849"/>
                    <a:pt x="826312" y="406400"/>
                  </a:cubicBezTo>
                  <a:cubicBezTo>
                    <a:pt x="826312" y="181951"/>
                    <a:pt x="641336" y="0"/>
                    <a:pt x="413156" y="0"/>
                  </a:cubicBezTo>
                  <a:close/>
                </a:path>
              </a:pathLst>
            </a:custGeom>
            <a:blipFill>
              <a:blip r:embed="rId4"/>
              <a:stretch>
                <a:fillRect l="-49108" t="0" r="-49108" b="0"/>
              </a:stretch>
            </a:blipFill>
          </p:spPr>
        </p:sp>
      </p:grpSp>
      <p:sp>
        <p:nvSpPr>
          <p:cNvPr name="TextBox 8" id="8"/>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FINANCIAL OVERVIEW</a:t>
            </a:r>
          </a:p>
        </p:txBody>
      </p:sp>
      <p:sp>
        <p:nvSpPr>
          <p:cNvPr name="TextBox 9" id="9"/>
          <p:cNvSpPr txBox="true"/>
          <p:nvPr/>
        </p:nvSpPr>
        <p:spPr>
          <a:xfrm rot="0">
            <a:off x="6818762" y="3563851"/>
            <a:ext cx="9182488" cy="1730375"/>
          </a:xfrm>
          <a:prstGeom prst="rect">
            <a:avLst/>
          </a:prstGeom>
        </p:spPr>
        <p:txBody>
          <a:bodyPr anchor="t" rtlCol="false" tIns="0" lIns="0" bIns="0" rIns="0">
            <a:spAutoFit/>
          </a:bodyPr>
          <a:lstStyle/>
          <a:p>
            <a:pPr algn="just" marL="0" indent="0" lvl="0">
              <a:lnSpc>
                <a:spcPts val="2724"/>
              </a:lnSpc>
            </a:pPr>
            <a:r>
              <a:rPr lang="en-US" sz="2499">
                <a:solidFill>
                  <a:srgbClr val="18899D"/>
                </a:solidFill>
                <a:latin typeface="TS Qamus"/>
                <a:ea typeface="TS Qamus"/>
                <a:cs typeface="TS Qamus"/>
                <a:sym typeface="TS Qamus"/>
              </a:rPr>
              <a:t>The Financial Overview Dashboard provides a real-time snapshot of your complete financial health. Key metrics include Total Income, Total Expenses, Net Savings, and Budget Status — all displayed in a clean, intuitive layout for quick decision-making.</a:t>
            </a:r>
          </a:p>
        </p:txBody>
      </p:sp>
      <p:sp>
        <p:nvSpPr>
          <p:cNvPr name="TextBox 10" id="10"/>
          <p:cNvSpPr txBox="true"/>
          <p:nvPr/>
        </p:nvSpPr>
        <p:spPr>
          <a:xfrm rot="0">
            <a:off x="6818762" y="6065751"/>
            <a:ext cx="9182488" cy="1730375"/>
          </a:xfrm>
          <a:prstGeom prst="rect">
            <a:avLst/>
          </a:prstGeom>
        </p:spPr>
        <p:txBody>
          <a:bodyPr anchor="t" rtlCol="false" tIns="0" lIns="0" bIns="0" rIns="0">
            <a:spAutoFit/>
          </a:bodyPr>
          <a:lstStyle/>
          <a:p>
            <a:pPr algn="just" marL="0" indent="0" lvl="0">
              <a:lnSpc>
                <a:spcPts val="2724"/>
              </a:lnSpc>
            </a:pPr>
            <a:r>
              <a:rPr lang="en-US" sz="2499">
                <a:solidFill>
                  <a:srgbClr val="18899D"/>
                </a:solidFill>
                <a:latin typeface="TS Qamus"/>
                <a:ea typeface="TS Qamus"/>
                <a:cs typeface="TS Qamus"/>
                <a:sym typeface="TS Qamus"/>
              </a:rPr>
              <a:t>An interactive expense pie chart breaks down spending by category, while the Financial Highlights panel surfaces top insights. Goals On Track indicators help users stay aligned with their savings targets at a glance.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1116282"/>
            <a:ext cx="16230600" cy="8054435"/>
          </a:xfrm>
          <a:custGeom>
            <a:avLst/>
            <a:gdLst/>
            <a:ahLst/>
            <a:cxnLst/>
            <a:rect r="r" b="b" t="t" l="l"/>
            <a:pathLst>
              <a:path h="8054435" w="16230600">
                <a:moveTo>
                  <a:pt x="0" y="0"/>
                </a:moveTo>
                <a:lnTo>
                  <a:pt x="16230600" y="0"/>
                </a:lnTo>
                <a:lnTo>
                  <a:pt x="16230600" y="8054436"/>
                </a:lnTo>
                <a:lnTo>
                  <a:pt x="0" y="8054436"/>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50418" y="146386"/>
            <a:ext cx="13264972" cy="5002047"/>
          </a:xfrm>
          <a:custGeom>
            <a:avLst/>
            <a:gdLst/>
            <a:ahLst/>
            <a:cxnLst/>
            <a:rect r="r" b="b" t="t" l="l"/>
            <a:pathLst>
              <a:path h="5002047" w="13264972">
                <a:moveTo>
                  <a:pt x="0" y="0"/>
                </a:moveTo>
                <a:lnTo>
                  <a:pt x="13264971" y="0"/>
                </a:lnTo>
                <a:lnTo>
                  <a:pt x="13264971" y="5002047"/>
                </a:lnTo>
                <a:lnTo>
                  <a:pt x="0" y="5002047"/>
                </a:lnTo>
                <a:lnTo>
                  <a:pt x="0" y="0"/>
                </a:lnTo>
                <a:close/>
              </a:path>
            </a:pathLst>
          </a:custGeom>
          <a:blipFill>
            <a:blip r:embed="rId4"/>
            <a:stretch>
              <a:fillRect l="0" t="0" r="0" b="0"/>
            </a:stretch>
          </a:blipFill>
        </p:spPr>
      </p:sp>
      <p:sp>
        <p:nvSpPr>
          <p:cNvPr name="Freeform 7" id="7"/>
          <p:cNvSpPr/>
          <p:nvPr/>
        </p:nvSpPr>
        <p:spPr>
          <a:xfrm flipH="false" flipV="false" rot="0">
            <a:off x="2150418" y="5148433"/>
            <a:ext cx="13273347" cy="4109867"/>
          </a:xfrm>
          <a:custGeom>
            <a:avLst/>
            <a:gdLst/>
            <a:ahLst/>
            <a:cxnLst/>
            <a:rect r="r" b="b" t="t" l="l"/>
            <a:pathLst>
              <a:path h="4109867" w="13273347">
                <a:moveTo>
                  <a:pt x="0" y="0"/>
                </a:moveTo>
                <a:lnTo>
                  <a:pt x="13273346" y="0"/>
                </a:lnTo>
                <a:lnTo>
                  <a:pt x="13273346" y="4109867"/>
                </a:lnTo>
                <a:lnTo>
                  <a:pt x="0" y="4109867"/>
                </a:lnTo>
                <a:lnTo>
                  <a:pt x="0" y="0"/>
                </a:lnTo>
                <a:close/>
              </a:path>
            </a:pathLst>
          </a:custGeom>
          <a:blipFill>
            <a:blip r:embed="rId5"/>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492625" cy="44926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39086" t="0" r="-39086" b="0"/>
              </a:stretch>
            </a:blipFill>
          </p:spPr>
        </p:sp>
      </p:grpSp>
      <p:sp>
        <p:nvSpPr>
          <p:cNvPr name="TextBox 8" id="8"/>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INCOME SOURCES MANAGEMENT</a:t>
            </a:r>
          </a:p>
        </p:txBody>
      </p:sp>
      <p:sp>
        <p:nvSpPr>
          <p:cNvPr name="TextBox 9" id="9"/>
          <p:cNvSpPr txBox="true"/>
          <p:nvPr/>
        </p:nvSpPr>
        <p:spPr>
          <a:xfrm rot="0">
            <a:off x="6818762" y="3563851"/>
            <a:ext cx="9182488" cy="1783113"/>
          </a:xfrm>
          <a:prstGeom prst="rect">
            <a:avLst/>
          </a:prstGeom>
        </p:spPr>
        <p:txBody>
          <a:bodyPr anchor="t" rtlCol="false" tIns="0" lIns="0" bIns="0" rIns="0">
            <a:spAutoFit/>
          </a:bodyPr>
          <a:lstStyle/>
          <a:p>
            <a:pPr algn="just" marL="0" indent="0" lvl="0">
              <a:lnSpc>
                <a:spcPts val="2380"/>
              </a:lnSpc>
            </a:pPr>
            <a:r>
              <a:rPr lang="en-US" sz="2184">
                <a:solidFill>
                  <a:srgbClr val="18899D"/>
                </a:solidFill>
                <a:latin typeface="TS Qamus"/>
                <a:ea typeface="TS Qamus"/>
                <a:cs typeface="TS Qamus"/>
                <a:sym typeface="TS Qamus"/>
              </a:rPr>
              <a:t>• Add income entries by source, amount, date, category, and description</a:t>
            </a:r>
          </a:p>
          <a:p>
            <a:pPr algn="just" marL="0" indent="0" lvl="0">
              <a:lnSpc>
                <a:spcPts val="2380"/>
              </a:lnSpc>
            </a:pPr>
            <a:r>
              <a:rPr lang="en-US" sz="2184">
                <a:solidFill>
                  <a:srgbClr val="18899D"/>
                </a:solidFill>
                <a:latin typeface="TS Qamus"/>
                <a:ea typeface="TS Qamus"/>
                <a:cs typeface="TS Qamus"/>
                <a:sym typeface="TS Qamus"/>
              </a:rPr>
              <a:t>• View total income at a glance with a clear summary dashboard</a:t>
            </a:r>
          </a:p>
          <a:p>
            <a:pPr algn="just" marL="0" indent="0" lvl="0">
              <a:lnSpc>
                <a:spcPts val="2380"/>
              </a:lnSpc>
            </a:pPr>
            <a:r>
              <a:rPr lang="en-US" sz="2184">
                <a:solidFill>
                  <a:srgbClr val="18899D"/>
                </a:solidFill>
                <a:latin typeface="TS Qamus"/>
                <a:ea typeface="TS Qamus"/>
                <a:cs typeface="TS Qamus"/>
                <a:sym typeface="TS Qamus"/>
              </a:rPr>
              <a:t>• Track number of income entries and identify the highest income source</a:t>
            </a:r>
          </a:p>
          <a:p>
            <a:pPr algn="just" marL="0" indent="0" lvl="0">
              <a:lnSpc>
                <a:spcPts val="2380"/>
              </a:lnSpc>
            </a:pPr>
            <a:r>
              <a:rPr lang="en-US" sz="2184">
                <a:solidFill>
                  <a:srgbClr val="18899D"/>
                </a:solidFill>
                <a:latin typeface="TS Qamus"/>
                <a:ea typeface="TS Qamus"/>
                <a:cs typeface="TS Qamus"/>
                <a:sym typeface="TS Qamus"/>
              </a:rPr>
              <a:t>• Categorize income streams for better financial clarity</a:t>
            </a:r>
          </a:p>
        </p:txBody>
      </p:sp>
      <p:sp>
        <p:nvSpPr>
          <p:cNvPr name="TextBox 10" id="10"/>
          <p:cNvSpPr txBox="true"/>
          <p:nvPr/>
        </p:nvSpPr>
        <p:spPr>
          <a:xfrm rot="0">
            <a:off x="6818762" y="6065751"/>
            <a:ext cx="9182488" cy="1783113"/>
          </a:xfrm>
          <a:prstGeom prst="rect">
            <a:avLst/>
          </a:prstGeom>
        </p:spPr>
        <p:txBody>
          <a:bodyPr anchor="t" rtlCol="false" tIns="0" lIns="0" bIns="0" rIns="0">
            <a:spAutoFit/>
          </a:bodyPr>
          <a:lstStyle/>
          <a:p>
            <a:pPr algn="just" marL="0" indent="0" lvl="0">
              <a:lnSpc>
                <a:spcPts val="2380"/>
              </a:lnSpc>
            </a:pPr>
            <a:r>
              <a:rPr lang="en-US" sz="2184">
                <a:solidFill>
                  <a:srgbClr val="18899D"/>
                </a:solidFill>
                <a:latin typeface="TS Qamus"/>
                <a:ea typeface="TS Qamus"/>
                <a:cs typeface="TS Qamus"/>
                <a:sym typeface="TS Qamus"/>
              </a:rPr>
              <a:t>• Filter and search income records by date, category, or source</a:t>
            </a:r>
          </a:p>
          <a:p>
            <a:pPr algn="just" marL="0" indent="0" lvl="0">
              <a:lnSpc>
                <a:spcPts val="2380"/>
              </a:lnSpc>
            </a:pPr>
            <a:r>
              <a:rPr lang="en-US" sz="2184">
                <a:solidFill>
                  <a:srgbClr val="18899D"/>
                </a:solidFill>
                <a:latin typeface="TS Qamus"/>
                <a:ea typeface="TS Qamus"/>
                <a:cs typeface="TS Qamus"/>
                <a:sym typeface="TS Qamus"/>
              </a:rPr>
              <a:t>• Monitor income trends over time to plan budgets effectively</a:t>
            </a:r>
          </a:p>
          <a:p>
            <a:pPr algn="just" marL="0" indent="0" lvl="0">
              <a:lnSpc>
                <a:spcPts val="2380"/>
              </a:lnSpc>
            </a:pPr>
            <a:r>
              <a:rPr lang="en-US" sz="2184">
                <a:solidFill>
                  <a:srgbClr val="18899D"/>
                </a:solidFill>
                <a:latin typeface="TS Qamus"/>
                <a:ea typeface="TS Qamus"/>
                <a:cs typeface="TS Qamus"/>
                <a:sym typeface="TS Qamus"/>
              </a:rPr>
              <a:t>• Support for multiple income types: salary, freelance, investment, and more</a:t>
            </a:r>
          </a:p>
          <a:p>
            <a:pPr algn="just" marL="0" indent="0" lvl="0">
              <a:lnSpc>
                <a:spcPts val="2380"/>
              </a:lnSpc>
            </a:pPr>
            <a:r>
              <a:rPr lang="en-US" sz="2184">
                <a:solidFill>
                  <a:srgbClr val="18899D"/>
                </a:solidFill>
                <a:latin typeface="TS Qamus"/>
                <a:ea typeface="TS Qamus"/>
                <a:cs typeface="TS Qamus"/>
                <a:sym typeface="TS Qamus"/>
              </a:rPr>
              <a:t>• Real-time updates ensure accurate and up-to-date income tracking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812508" y="1028700"/>
            <a:ext cx="14662984" cy="8229600"/>
          </a:xfrm>
          <a:custGeom>
            <a:avLst/>
            <a:gdLst/>
            <a:ahLst/>
            <a:cxnLst/>
            <a:rect r="r" b="b" t="t" l="l"/>
            <a:pathLst>
              <a:path h="8229600" w="14662984">
                <a:moveTo>
                  <a:pt x="0" y="0"/>
                </a:moveTo>
                <a:lnTo>
                  <a:pt x="14662984" y="0"/>
                </a:lnTo>
                <a:lnTo>
                  <a:pt x="14662984" y="8229600"/>
                </a:lnTo>
                <a:lnTo>
                  <a:pt x="0" y="8229600"/>
                </a:lnTo>
                <a:lnTo>
                  <a:pt x="0" y="0"/>
                </a:lnTo>
                <a:close/>
              </a:path>
            </a:pathLst>
          </a:custGeom>
          <a:blipFill>
            <a:blip r:embed="rId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492625" cy="44926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82890" t="0" r="-82890" b="0"/>
              </a:stretch>
            </a:blipFill>
          </p:spPr>
        </p:sp>
      </p:grpSp>
      <p:sp>
        <p:nvSpPr>
          <p:cNvPr name="TextBox 8" id="8"/>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INCOME VS EXPENSE ANALYSIS</a:t>
            </a:r>
          </a:p>
        </p:txBody>
      </p:sp>
      <p:sp>
        <p:nvSpPr>
          <p:cNvPr name="TextBox 9" id="9"/>
          <p:cNvSpPr txBox="true"/>
          <p:nvPr/>
        </p:nvSpPr>
        <p:spPr>
          <a:xfrm rot="0">
            <a:off x="6818762" y="3554326"/>
            <a:ext cx="9182488" cy="20827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 Monthly Trends: Visual charts comparing income and expenses month-over-month to identify patterns and seasonal fluctuations in your finances.</a:t>
            </a:r>
          </a:p>
          <a:p>
            <a:pPr algn="just" marL="0" indent="0" lvl="0">
              <a:lnSpc>
                <a:spcPts val="2723"/>
              </a:lnSpc>
            </a:pPr>
            <a:r>
              <a:rPr lang="en-US" sz="2498">
                <a:solidFill>
                  <a:srgbClr val="18899D"/>
                </a:solidFill>
                <a:latin typeface="TS Qamus"/>
                <a:ea typeface="TS Qamus"/>
                <a:cs typeface="TS Qamus"/>
                <a:sym typeface="TS Qamus"/>
              </a:rPr>
              <a:t>• Top Spending Categories: Breakdown of where money is being spent most, helping prioritize budget adjustments.</a:t>
            </a:r>
          </a:p>
        </p:txBody>
      </p:sp>
      <p:sp>
        <p:nvSpPr>
          <p:cNvPr name="TextBox 10" id="10"/>
          <p:cNvSpPr txBox="true"/>
          <p:nvPr/>
        </p:nvSpPr>
        <p:spPr>
          <a:xfrm rot="0">
            <a:off x="6818762" y="6056226"/>
            <a:ext cx="9182488" cy="20827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 Savings Opportunities: Identify gaps between income and expenses to uncover actionable savings potential each month.</a:t>
            </a:r>
          </a:p>
          <a:p>
            <a:pPr algn="just" marL="0" indent="0" lvl="0">
              <a:lnSpc>
                <a:spcPts val="2723"/>
              </a:lnSpc>
            </a:pPr>
            <a:r>
              <a:rPr lang="en-US" sz="2498">
                <a:solidFill>
                  <a:srgbClr val="18899D"/>
                </a:solidFill>
                <a:latin typeface="TS Qamus"/>
                <a:ea typeface="TS Qamus"/>
                <a:cs typeface="TS Qamus"/>
                <a:sym typeface="TS Qamus"/>
              </a:rPr>
              <a:t>• Pattern Recognition: Spot recurring overspending trends and make informed decisions to improve your overall financial health.</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1829886"/>
            <a:ext cx="16230600" cy="6106763"/>
          </a:xfrm>
          <a:custGeom>
            <a:avLst/>
            <a:gdLst/>
            <a:ahLst/>
            <a:cxnLst/>
            <a:rect r="r" b="b" t="t" l="l"/>
            <a:pathLst>
              <a:path h="6106763" w="16230600">
                <a:moveTo>
                  <a:pt x="0" y="0"/>
                </a:moveTo>
                <a:lnTo>
                  <a:pt x="16230600" y="0"/>
                </a:lnTo>
                <a:lnTo>
                  <a:pt x="16230600" y="6106764"/>
                </a:lnTo>
                <a:lnTo>
                  <a:pt x="0" y="6106764"/>
                </a:lnTo>
                <a:lnTo>
                  <a:pt x="0" y="0"/>
                </a:lnTo>
                <a:close/>
              </a:path>
            </a:pathLst>
          </a:custGeom>
          <a:blipFill>
            <a:blip r:embed="rId4"/>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492625" cy="44926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43896" t="0" r="-43896" b="0"/>
              </a:stretch>
            </a:blipFill>
          </p:spPr>
        </p:sp>
      </p:grpSp>
      <p:sp>
        <p:nvSpPr>
          <p:cNvPr name="TextBox 8" id="8"/>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EXPENSE</a:t>
            </a:r>
          </a:p>
          <a:p>
            <a:pPr algn="ctr" marL="0" indent="0" lvl="0">
              <a:lnSpc>
                <a:spcPts val="7909"/>
              </a:lnSpc>
            </a:pPr>
            <a:r>
              <a:rPr lang="en-US" b="true" sz="7255">
                <a:solidFill>
                  <a:srgbClr val="18899D"/>
                </a:solidFill>
                <a:latin typeface="TS Qamus Bold"/>
                <a:ea typeface="TS Qamus Bold"/>
                <a:cs typeface="TS Qamus Bold"/>
                <a:sym typeface="TS Qamus Bold"/>
              </a:rPr>
              <a:t>MANAGEMENT</a:t>
            </a:r>
          </a:p>
        </p:txBody>
      </p:sp>
      <p:sp>
        <p:nvSpPr>
          <p:cNvPr name="TextBox 9" id="9"/>
          <p:cNvSpPr txBox="true"/>
          <p:nvPr/>
        </p:nvSpPr>
        <p:spPr>
          <a:xfrm rot="0">
            <a:off x="6818762" y="3563851"/>
            <a:ext cx="9182488" cy="1730375"/>
          </a:xfrm>
          <a:prstGeom prst="rect">
            <a:avLst/>
          </a:prstGeom>
        </p:spPr>
        <p:txBody>
          <a:bodyPr anchor="t" rtlCol="false" tIns="0" lIns="0" bIns="0" rIns="0">
            <a:spAutoFit/>
          </a:bodyPr>
          <a:lstStyle/>
          <a:p>
            <a:pPr algn="just" marL="0" indent="0" lvl="0">
              <a:lnSpc>
                <a:spcPts val="2724"/>
              </a:lnSpc>
            </a:pPr>
            <a:r>
              <a:rPr lang="en-US" sz="2499">
                <a:solidFill>
                  <a:srgbClr val="18899D"/>
                </a:solidFill>
                <a:latin typeface="TS Qamus"/>
                <a:ea typeface="TS Qamus"/>
                <a:cs typeface="TS Qamus"/>
                <a:sym typeface="TS Qamus"/>
              </a:rPr>
              <a:t>Track every expense with precision. Add expenses by entering the amount, category, date, payment method, and description. Supports multiple payment types including cash, card, and digital wallets for complete financial visibility.</a:t>
            </a:r>
          </a:p>
        </p:txBody>
      </p:sp>
      <p:sp>
        <p:nvSpPr>
          <p:cNvPr name="TextBox 10" id="10"/>
          <p:cNvSpPr txBox="true"/>
          <p:nvPr/>
        </p:nvSpPr>
        <p:spPr>
          <a:xfrm rot="0">
            <a:off x="6818762" y="6065751"/>
            <a:ext cx="9182488" cy="1387475"/>
          </a:xfrm>
          <a:prstGeom prst="rect">
            <a:avLst/>
          </a:prstGeom>
        </p:spPr>
        <p:txBody>
          <a:bodyPr anchor="t" rtlCol="false" tIns="0" lIns="0" bIns="0" rIns="0">
            <a:spAutoFit/>
          </a:bodyPr>
          <a:lstStyle/>
          <a:p>
            <a:pPr algn="just" marL="0" indent="0" lvl="0">
              <a:lnSpc>
                <a:spcPts val="2724"/>
              </a:lnSpc>
            </a:pPr>
            <a:r>
              <a:rPr lang="en-US" sz="2499">
                <a:solidFill>
                  <a:srgbClr val="18899D"/>
                </a:solidFill>
                <a:latin typeface="TS Qamus"/>
                <a:ea typeface="TS Qamus"/>
                <a:cs typeface="TS Qamus"/>
                <a:sym typeface="TS Qamus"/>
              </a:rPr>
              <a:t>View total amount spent, identify highest expense entries, and browse your full expense records. Filter and search through past expenses to monitor spending habits and stay within your financial limits.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16676" y="1028700"/>
            <a:ext cx="15454648" cy="8229600"/>
          </a:xfrm>
          <a:custGeom>
            <a:avLst/>
            <a:gdLst/>
            <a:ahLst/>
            <a:cxnLst/>
            <a:rect r="r" b="b" t="t" l="l"/>
            <a:pathLst>
              <a:path h="8229600" w="15454648">
                <a:moveTo>
                  <a:pt x="0" y="0"/>
                </a:moveTo>
                <a:lnTo>
                  <a:pt x="15454648" y="0"/>
                </a:lnTo>
                <a:lnTo>
                  <a:pt x="15454648" y="8229600"/>
                </a:lnTo>
                <a:lnTo>
                  <a:pt x="0" y="8229600"/>
                </a:lnTo>
                <a:lnTo>
                  <a:pt x="0" y="0"/>
                </a:lnTo>
                <a:close/>
              </a:path>
            </a:pathLst>
          </a:custGeom>
          <a:blipFill>
            <a:blip r:embed="rId4"/>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492625" cy="44926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47560" t="0" r="-47560" b="0"/>
              </a:stretch>
            </a:blipFill>
          </p:spPr>
        </p:sp>
      </p:grpSp>
      <p:sp>
        <p:nvSpPr>
          <p:cNvPr name="TextBox 8" id="8"/>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BUDGET MANAGEMENT</a:t>
            </a:r>
          </a:p>
        </p:txBody>
      </p:sp>
      <p:sp>
        <p:nvSpPr>
          <p:cNvPr name="TextBox 9" id="9"/>
          <p:cNvSpPr txBox="true"/>
          <p:nvPr/>
        </p:nvSpPr>
        <p:spPr>
          <a:xfrm rot="0">
            <a:off x="6818762" y="3554326"/>
            <a:ext cx="9182488" cy="1850702"/>
          </a:xfrm>
          <a:prstGeom prst="rect">
            <a:avLst/>
          </a:prstGeom>
        </p:spPr>
        <p:txBody>
          <a:bodyPr anchor="t" rtlCol="false" tIns="0" lIns="0" bIns="0" rIns="0">
            <a:spAutoFit/>
          </a:bodyPr>
          <a:lstStyle/>
          <a:p>
            <a:pPr algn="just" marL="0" indent="0" lvl="0">
              <a:lnSpc>
                <a:spcPts val="2452"/>
              </a:lnSpc>
            </a:pPr>
            <a:r>
              <a:rPr lang="en-US" sz="2249">
                <a:solidFill>
                  <a:srgbClr val="18899D"/>
                </a:solidFill>
                <a:latin typeface="TS Qamus"/>
                <a:ea typeface="TS Qamus"/>
                <a:cs typeface="TS Qamus"/>
                <a:sym typeface="TS Qamus"/>
              </a:rPr>
              <a:t>Define budget amounts and periods to stay on track with your spending goals.</a:t>
            </a:r>
          </a:p>
          <a:p>
            <a:pPr algn="just" marL="485691" indent="-242845" lvl="1">
              <a:lnSpc>
                <a:spcPts val="2452"/>
              </a:lnSpc>
              <a:buFont typeface="Arial"/>
              <a:buChar char="•"/>
            </a:pPr>
            <a:r>
              <a:rPr lang="en-US" sz="2249">
                <a:solidFill>
                  <a:srgbClr val="18899D"/>
                </a:solidFill>
                <a:latin typeface="TS Qamus"/>
                <a:ea typeface="TS Qamus"/>
                <a:cs typeface="TS Qamus"/>
                <a:sym typeface="TS Qamus"/>
              </a:rPr>
              <a:t>Set budgets by category (e.g., Food, Transport, Utilities)</a:t>
            </a:r>
          </a:p>
          <a:p>
            <a:pPr algn="just" marL="485691" indent="-242845" lvl="1">
              <a:lnSpc>
                <a:spcPts val="2452"/>
              </a:lnSpc>
              <a:buFont typeface="Arial"/>
              <a:buChar char="•"/>
            </a:pPr>
            <a:r>
              <a:rPr lang="en-US" sz="2249">
                <a:solidFill>
                  <a:srgbClr val="18899D"/>
                </a:solidFill>
                <a:latin typeface="TS Qamus"/>
                <a:ea typeface="TS Qamus"/>
                <a:cs typeface="TS Qamus"/>
                <a:sym typeface="TS Qamus"/>
              </a:rPr>
              <a:t>Choose weekly or monthly budget periods</a:t>
            </a:r>
          </a:p>
          <a:p>
            <a:pPr algn="just" marL="485691" indent="-242845" lvl="1">
              <a:lnSpc>
                <a:spcPts val="2452"/>
              </a:lnSpc>
              <a:buFont typeface="Arial"/>
              <a:buChar char="•"/>
            </a:pPr>
            <a:r>
              <a:rPr lang="en-US" sz="2249">
                <a:solidFill>
                  <a:srgbClr val="18899D"/>
                </a:solidFill>
                <a:latin typeface="TS Qamus"/>
                <a:ea typeface="TS Qamus"/>
                <a:cs typeface="TS Qamus"/>
                <a:sym typeface="TS Qamus"/>
              </a:rPr>
              <a:t>Real-time tracking of spending against each budget</a:t>
            </a:r>
          </a:p>
          <a:p>
            <a:pPr algn="just" marL="485691" indent="-242845" lvl="1">
              <a:lnSpc>
                <a:spcPts val="2452"/>
              </a:lnSpc>
              <a:buFont typeface="Arial"/>
              <a:buChar char="•"/>
            </a:pPr>
            <a:r>
              <a:rPr lang="en-US" sz="2249">
                <a:solidFill>
                  <a:srgbClr val="18899D"/>
                </a:solidFill>
                <a:latin typeface="TS Qamus"/>
                <a:ea typeface="TS Qamus"/>
                <a:cs typeface="TS Qamus"/>
                <a:sym typeface="TS Qamus"/>
              </a:rPr>
              <a:t>Instant alerts when budget limits are breached</a:t>
            </a:r>
          </a:p>
        </p:txBody>
      </p:sp>
      <p:sp>
        <p:nvSpPr>
          <p:cNvPr name="TextBox 10" id="10"/>
          <p:cNvSpPr txBox="true"/>
          <p:nvPr/>
        </p:nvSpPr>
        <p:spPr>
          <a:xfrm rot="0">
            <a:off x="6818762" y="6056226"/>
            <a:ext cx="9182488" cy="1850702"/>
          </a:xfrm>
          <a:prstGeom prst="rect">
            <a:avLst/>
          </a:prstGeom>
        </p:spPr>
        <p:txBody>
          <a:bodyPr anchor="t" rtlCol="false" tIns="0" lIns="0" bIns="0" rIns="0">
            <a:spAutoFit/>
          </a:bodyPr>
          <a:lstStyle/>
          <a:p>
            <a:pPr algn="just" marL="0" indent="0" lvl="0">
              <a:lnSpc>
                <a:spcPts val="2452"/>
              </a:lnSpc>
            </a:pPr>
            <a:r>
              <a:rPr lang="en-US" sz="2249">
                <a:solidFill>
                  <a:srgbClr val="18899D"/>
                </a:solidFill>
                <a:latin typeface="TS Qamus"/>
                <a:ea typeface="TS Qamus"/>
                <a:cs typeface="TS Qamus"/>
                <a:sym typeface="TS Qamus"/>
              </a:rPr>
              <a:t>Monitor all active budgets from a single dashboard view.</a:t>
            </a:r>
          </a:p>
          <a:p>
            <a:pPr algn="just" marL="485691" indent="-242845" lvl="1">
              <a:lnSpc>
                <a:spcPts val="2452"/>
              </a:lnSpc>
              <a:buFont typeface="Arial"/>
              <a:buChar char="•"/>
            </a:pPr>
            <a:r>
              <a:rPr lang="en-US" sz="2249">
                <a:solidFill>
                  <a:srgbClr val="18899D"/>
                </a:solidFill>
                <a:latin typeface="TS Qamus"/>
                <a:ea typeface="TS Qamus"/>
                <a:cs typeface="TS Qamus"/>
                <a:sym typeface="TS Qamus"/>
              </a:rPr>
              <a:t>Visual progress bars showing budget utilization</a:t>
            </a:r>
          </a:p>
          <a:p>
            <a:pPr algn="just" marL="485691" indent="-242845" lvl="1">
              <a:lnSpc>
                <a:spcPts val="2452"/>
              </a:lnSpc>
              <a:buFont typeface="Arial"/>
              <a:buChar char="•"/>
            </a:pPr>
            <a:r>
              <a:rPr lang="en-US" sz="2249">
                <a:solidFill>
                  <a:srgbClr val="18899D"/>
                </a:solidFill>
                <a:latin typeface="TS Qamus"/>
                <a:ea typeface="TS Qamus"/>
                <a:cs typeface="TS Qamus"/>
                <a:sym typeface="TS Qamus"/>
              </a:rPr>
              <a:t>Color-coded indicators: green (safe), amber (near limit), red (exceeded)</a:t>
            </a:r>
          </a:p>
          <a:p>
            <a:pPr algn="just" marL="485691" indent="-242845" lvl="1">
              <a:lnSpc>
                <a:spcPts val="2452"/>
              </a:lnSpc>
              <a:buFont typeface="Arial"/>
              <a:buChar char="•"/>
            </a:pPr>
            <a:r>
              <a:rPr lang="en-US" sz="2249">
                <a:solidFill>
                  <a:srgbClr val="18899D"/>
                </a:solidFill>
                <a:latin typeface="TS Qamus"/>
                <a:ea typeface="TS Qamus"/>
                <a:cs typeface="TS Qamus"/>
                <a:sym typeface="TS Qamus"/>
              </a:rPr>
              <a:t>Historical budget performance for better planning</a:t>
            </a:r>
          </a:p>
          <a:p>
            <a:pPr algn="just" marL="485691" indent="-242845" lvl="1">
              <a:lnSpc>
                <a:spcPts val="2452"/>
              </a:lnSpc>
              <a:buFont typeface="Arial"/>
              <a:buChar char="•"/>
            </a:pPr>
            <a:r>
              <a:rPr lang="en-US" sz="2249">
                <a:solidFill>
                  <a:srgbClr val="18899D"/>
                </a:solidFill>
                <a:latin typeface="TS Qamus"/>
                <a:ea typeface="TS Qamus"/>
                <a:cs typeface="TS Qamus"/>
                <a:sym typeface="TS Qamus"/>
              </a:rPr>
              <a:t>Adjust budget amounts anytime to reflect changing needs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15122" y="1028700"/>
            <a:ext cx="16057756" cy="8229600"/>
          </a:xfrm>
          <a:custGeom>
            <a:avLst/>
            <a:gdLst/>
            <a:ahLst/>
            <a:cxnLst/>
            <a:rect r="r" b="b" t="t" l="l"/>
            <a:pathLst>
              <a:path h="8229600" w="16057756">
                <a:moveTo>
                  <a:pt x="0" y="0"/>
                </a:moveTo>
                <a:lnTo>
                  <a:pt x="16057756" y="0"/>
                </a:lnTo>
                <a:lnTo>
                  <a:pt x="16057756" y="8229600"/>
                </a:lnTo>
                <a:lnTo>
                  <a:pt x="0" y="8229600"/>
                </a:lnTo>
                <a:lnTo>
                  <a:pt x="0" y="0"/>
                </a:lnTo>
                <a:close/>
              </a:path>
            </a:pathLst>
          </a:custGeom>
          <a:blipFill>
            <a:blip r:embed="rId4"/>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492625" cy="44926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111943" t="0" r="-111943" b="0"/>
              </a:stretch>
            </a:blipFill>
          </p:spPr>
        </p:sp>
      </p:grpSp>
      <p:sp>
        <p:nvSpPr>
          <p:cNvPr name="TextBox 8" id="8"/>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BUDGET ANALYSIS</a:t>
            </a:r>
          </a:p>
          <a:p>
            <a:pPr algn="ctr" marL="0" indent="0" lvl="0">
              <a:lnSpc>
                <a:spcPts val="7909"/>
              </a:lnSpc>
            </a:pPr>
            <a:r>
              <a:rPr lang="en-US" b="true" sz="7255">
                <a:solidFill>
                  <a:srgbClr val="18899D"/>
                </a:solidFill>
                <a:latin typeface="TS Qamus Bold"/>
                <a:ea typeface="TS Qamus Bold"/>
                <a:cs typeface="TS Qamus Bold"/>
                <a:sym typeface="TS Qamus Bold"/>
              </a:rPr>
              <a:t>&amp; GOALS</a:t>
            </a:r>
          </a:p>
        </p:txBody>
      </p:sp>
      <p:sp>
        <p:nvSpPr>
          <p:cNvPr name="TextBox 9" id="9"/>
          <p:cNvSpPr txBox="true"/>
          <p:nvPr/>
        </p:nvSpPr>
        <p:spPr>
          <a:xfrm rot="0">
            <a:off x="6818762" y="3563851"/>
            <a:ext cx="9182488" cy="1387475"/>
          </a:xfrm>
          <a:prstGeom prst="rect">
            <a:avLst/>
          </a:prstGeom>
        </p:spPr>
        <p:txBody>
          <a:bodyPr anchor="t" rtlCol="false" tIns="0" lIns="0" bIns="0" rIns="0">
            <a:spAutoFit/>
          </a:bodyPr>
          <a:lstStyle/>
          <a:p>
            <a:pPr algn="just" marL="0" indent="0" lvl="0">
              <a:lnSpc>
                <a:spcPts val="2724"/>
              </a:lnSpc>
            </a:pPr>
            <a:r>
              <a:rPr lang="en-US" sz="2499">
                <a:solidFill>
                  <a:srgbClr val="18899D"/>
                </a:solidFill>
                <a:latin typeface="TS Qamus"/>
                <a:ea typeface="TS Qamus"/>
                <a:cs typeface="TS Qamus"/>
                <a:sym typeface="TS Qamus"/>
              </a:rPr>
              <a:t>Dashboard widgets summarising budget status and savings rate across all categories, with visual indicators for budgets on track, approaching limits, or breached for immediate awareness.</a:t>
            </a:r>
          </a:p>
        </p:txBody>
      </p:sp>
      <p:sp>
        <p:nvSpPr>
          <p:cNvPr name="TextBox 10" id="10"/>
          <p:cNvSpPr txBox="true"/>
          <p:nvPr/>
        </p:nvSpPr>
        <p:spPr>
          <a:xfrm rot="0">
            <a:off x="6818762" y="6065751"/>
            <a:ext cx="9182488" cy="1387475"/>
          </a:xfrm>
          <a:prstGeom prst="rect">
            <a:avLst/>
          </a:prstGeom>
        </p:spPr>
        <p:txBody>
          <a:bodyPr anchor="t" rtlCol="false" tIns="0" lIns="0" bIns="0" rIns="0">
            <a:spAutoFit/>
          </a:bodyPr>
          <a:lstStyle/>
          <a:p>
            <a:pPr algn="just" marL="0" indent="0" lvl="0">
              <a:lnSpc>
                <a:spcPts val="2724"/>
              </a:lnSpc>
            </a:pPr>
            <a:r>
              <a:rPr lang="en-US" sz="2499">
                <a:solidFill>
                  <a:srgbClr val="18899D"/>
                </a:solidFill>
                <a:latin typeface="TS Qamus"/>
                <a:ea typeface="TS Qamus"/>
                <a:cs typeface="TS Qamus"/>
                <a:sym typeface="TS Qamus"/>
              </a:rPr>
              <a:t>Goals analysis panel for tracking completion progress of each savings goal, including percentage achieved, remaining amount, and target date — enabling smarter financial planning.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2544541"/>
            <a:ext cx="16230600" cy="5104557"/>
          </a:xfrm>
          <a:custGeom>
            <a:avLst/>
            <a:gdLst/>
            <a:ahLst/>
            <a:cxnLst/>
            <a:rect r="r" b="b" t="t" l="l"/>
            <a:pathLst>
              <a:path h="5104557" w="16230600">
                <a:moveTo>
                  <a:pt x="0" y="0"/>
                </a:moveTo>
                <a:lnTo>
                  <a:pt x="16230600" y="0"/>
                </a:lnTo>
                <a:lnTo>
                  <a:pt x="16230600" y="5104558"/>
                </a:lnTo>
                <a:lnTo>
                  <a:pt x="0" y="5104558"/>
                </a:lnTo>
                <a:lnTo>
                  <a:pt x="0" y="0"/>
                </a:lnTo>
                <a:close/>
              </a:path>
            </a:pathLst>
          </a:custGeom>
          <a:blipFill>
            <a:blip r:embed="rId4"/>
            <a:stretch>
              <a:fillRect l="-931" t="0" r="-931"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492625" cy="44926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33682" t="0" r="-33682" b="0"/>
              </a:stretch>
            </a:blipFill>
          </p:spPr>
        </p:sp>
      </p:grpSp>
      <p:sp>
        <p:nvSpPr>
          <p:cNvPr name="TextBox 8" id="8"/>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SAVINGS GOAL MANAGEMENT</a:t>
            </a:r>
          </a:p>
        </p:txBody>
      </p:sp>
      <p:sp>
        <p:nvSpPr>
          <p:cNvPr name="TextBox 9" id="9"/>
          <p:cNvSpPr txBox="true"/>
          <p:nvPr/>
        </p:nvSpPr>
        <p:spPr>
          <a:xfrm rot="0">
            <a:off x="6818762" y="3554326"/>
            <a:ext cx="9182488" cy="20827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 Set personalized savings goals with a goal name, target amount, current progress, and target date</a:t>
            </a:r>
          </a:p>
          <a:p>
            <a:pPr algn="just" marL="0" indent="0" lvl="0">
              <a:lnSpc>
                <a:spcPts val="2723"/>
              </a:lnSpc>
            </a:pPr>
            <a:r>
              <a:rPr lang="en-US" sz="2498">
                <a:solidFill>
                  <a:srgbClr val="18899D"/>
                </a:solidFill>
                <a:latin typeface="TS Qamus"/>
                <a:ea typeface="TS Qamus"/>
                <a:cs typeface="TS Qamus"/>
                <a:sym typeface="TS Qamus"/>
              </a:rPr>
              <a:t>• Visual progress tracking shows how close you are to achieving each goal</a:t>
            </a:r>
          </a:p>
          <a:p>
            <a:pPr algn="just" marL="0" indent="0" lvl="0">
              <a:lnSpc>
                <a:spcPts val="2723"/>
              </a:lnSpc>
            </a:pPr>
            <a:r>
              <a:rPr lang="en-US" sz="2498">
                <a:solidFill>
                  <a:srgbClr val="18899D"/>
                </a:solidFill>
                <a:latin typeface="TS Qamus"/>
                <a:ea typeface="TS Qamus"/>
                <a:cs typeface="TS Qamus"/>
                <a:sym typeface="TS Qamus"/>
              </a:rPr>
              <a:t>• Easily update contributions and monitor milestones in real time</a:t>
            </a:r>
          </a:p>
        </p:txBody>
      </p:sp>
      <p:sp>
        <p:nvSpPr>
          <p:cNvPr name="TextBox 10" id="10"/>
          <p:cNvSpPr txBox="true"/>
          <p:nvPr/>
        </p:nvSpPr>
        <p:spPr>
          <a:xfrm rot="0">
            <a:off x="6818762" y="6056226"/>
            <a:ext cx="9182488" cy="20827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 Automated alerts notify you upon goal completion or when deadlines approach</a:t>
            </a:r>
          </a:p>
          <a:p>
            <a:pPr algn="just" marL="0" indent="0" lvl="0">
              <a:lnSpc>
                <a:spcPts val="2723"/>
              </a:lnSpc>
            </a:pPr>
            <a:r>
              <a:rPr lang="en-US" sz="2498">
                <a:solidFill>
                  <a:srgbClr val="18899D"/>
                </a:solidFill>
                <a:latin typeface="TS Qamus"/>
                <a:ea typeface="TS Qamus"/>
                <a:cs typeface="TS Qamus"/>
                <a:sym typeface="TS Qamus"/>
              </a:rPr>
              <a:t>• Reminders keep you on track with consistent saving habits</a:t>
            </a:r>
          </a:p>
          <a:p>
            <a:pPr algn="just" marL="0" indent="0" lvl="0">
              <a:lnSpc>
                <a:spcPts val="2723"/>
              </a:lnSpc>
            </a:pPr>
            <a:r>
              <a:rPr lang="en-US" sz="2498">
                <a:solidFill>
                  <a:srgbClr val="18899D"/>
                </a:solidFill>
                <a:latin typeface="TS Qamus"/>
                <a:ea typeface="TS Qamus"/>
                <a:cs typeface="TS Qamus"/>
                <a:sym typeface="TS Qamus"/>
              </a:rPr>
              <a:t>• Manage multiple goals simultaneously for short-term and long-term financial planning</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8196" y="356510"/>
            <a:ext cx="15991607" cy="9163197"/>
          </a:xfrm>
          <a:custGeom>
            <a:avLst/>
            <a:gdLst/>
            <a:ahLst/>
            <a:cxnLst/>
            <a:rect r="r" b="b" t="t" l="l"/>
            <a:pathLst>
              <a:path h="9163197" w="15991607">
                <a:moveTo>
                  <a:pt x="0" y="0"/>
                </a:moveTo>
                <a:lnTo>
                  <a:pt x="15991608" y="0"/>
                </a:lnTo>
                <a:lnTo>
                  <a:pt x="15991608" y="9163197"/>
                </a:lnTo>
                <a:lnTo>
                  <a:pt x="0" y="9163197"/>
                </a:lnTo>
                <a:lnTo>
                  <a:pt x="0" y="0"/>
                </a:lnTo>
                <a:close/>
              </a:path>
            </a:pathLst>
          </a:custGeom>
          <a:blipFill>
            <a:blip r:embed="rId4"/>
            <a:stretch>
              <a:fillRect l="0" t="-893" r="0" b="-3382"/>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492625" cy="44926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56100" t="0" r="-56100" b="0"/>
              </a:stretch>
            </a:blipFill>
          </p:spPr>
        </p:sp>
      </p:grpSp>
      <p:sp>
        <p:nvSpPr>
          <p:cNvPr name="TextBox 8" id="8"/>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TRANSACTION MANAGEMENT</a:t>
            </a:r>
          </a:p>
        </p:txBody>
      </p:sp>
      <p:sp>
        <p:nvSpPr>
          <p:cNvPr name="TextBox 9" id="9"/>
          <p:cNvSpPr txBox="true"/>
          <p:nvPr/>
        </p:nvSpPr>
        <p:spPr>
          <a:xfrm rot="0">
            <a:off x="6818762" y="3563851"/>
            <a:ext cx="9182488" cy="1387475"/>
          </a:xfrm>
          <a:prstGeom prst="rect">
            <a:avLst/>
          </a:prstGeom>
        </p:spPr>
        <p:txBody>
          <a:bodyPr anchor="t" rtlCol="false" tIns="0" lIns="0" bIns="0" rIns="0">
            <a:spAutoFit/>
          </a:bodyPr>
          <a:lstStyle/>
          <a:p>
            <a:pPr algn="just" marL="0" indent="0" lvl="0">
              <a:lnSpc>
                <a:spcPts val="2724"/>
              </a:lnSpc>
            </a:pPr>
            <a:r>
              <a:rPr lang="en-US" sz="2499">
                <a:solidFill>
                  <a:srgbClr val="18899D"/>
                </a:solidFill>
                <a:latin typeface="TS Qamus"/>
                <a:ea typeface="TS Qamus"/>
                <a:cs typeface="TS Qamus"/>
                <a:sym typeface="TS Qamus"/>
              </a:rPr>
              <a:t>Manage all income, expense, and transfer transactions in one place. Add transfers with date, amount, description, and status to keep your financial records complete and accurate.</a:t>
            </a:r>
          </a:p>
        </p:txBody>
      </p:sp>
      <p:sp>
        <p:nvSpPr>
          <p:cNvPr name="TextBox 10" id="10"/>
          <p:cNvSpPr txBox="true"/>
          <p:nvPr/>
        </p:nvSpPr>
        <p:spPr>
          <a:xfrm rot="0">
            <a:off x="6818762" y="6065751"/>
            <a:ext cx="9182488" cy="1387475"/>
          </a:xfrm>
          <a:prstGeom prst="rect">
            <a:avLst/>
          </a:prstGeom>
        </p:spPr>
        <p:txBody>
          <a:bodyPr anchor="t" rtlCol="false" tIns="0" lIns="0" bIns="0" rIns="0">
            <a:spAutoFit/>
          </a:bodyPr>
          <a:lstStyle/>
          <a:p>
            <a:pPr algn="just" marL="0" indent="0" lvl="0">
              <a:lnSpc>
                <a:spcPts val="2724"/>
              </a:lnSpc>
            </a:pPr>
            <a:r>
              <a:rPr lang="en-US" sz="2499">
                <a:solidFill>
                  <a:srgbClr val="18899D"/>
                </a:solidFill>
                <a:latin typeface="TS Qamus"/>
                <a:ea typeface="TS Qamus"/>
                <a:cs typeface="TS Qamus"/>
                <a:sym typeface="TS Qamus"/>
              </a:rPr>
              <a:t>Access a fully searchable history of all transactions — income, expenses, and transfers. Filter, review, and audit your complete financial activity for better transparency and control.</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1319165"/>
            <a:ext cx="16230600" cy="7648670"/>
          </a:xfrm>
          <a:custGeom>
            <a:avLst/>
            <a:gdLst/>
            <a:ahLst/>
            <a:cxnLst/>
            <a:rect r="r" b="b" t="t" l="l"/>
            <a:pathLst>
              <a:path h="7648670" w="16230600">
                <a:moveTo>
                  <a:pt x="0" y="0"/>
                </a:moveTo>
                <a:lnTo>
                  <a:pt x="16230600" y="0"/>
                </a:lnTo>
                <a:lnTo>
                  <a:pt x="16230600" y="7648670"/>
                </a:lnTo>
                <a:lnTo>
                  <a:pt x="0" y="7648670"/>
                </a:lnTo>
                <a:lnTo>
                  <a:pt x="0" y="0"/>
                </a:lnTo>
                <a:close/>
              </a:path>
            </a:pathLst>
          </a:custGeom>
          <a:blipFill>
            <a:blip r:embed="rId4"/>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492625" cy="44926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71580" t="0" r="-71580" b="0"/>
              </a:stretch>
            </a:blipFill>
          </p:spPr>
        </p:sp>
      </p:grpSp>
      <p:sp>
        <p:nvSpPr>
          <p:cNvPr name="TextBox 8" id="8"/>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BANK ACCOUNT</a:t>
            </a:r>
          </a:p>
          <a:p>
            <a:pPr algn="ctr" marL="0" indent="0" lvl="0">
              <a:lnSpc>
                <a:spcPts val="7909"/>
              </a:lnSpc>
            </a:pPr>
            <a:r>
              <a:rPr lang="en-US" b="true" sz="7255">
                <a:solidFill>
                  <a:srgbClr val="18899D"/>
                </a:solidFill>
                <a:latin typeface="TS Qamus Bold"/>
                <a:ea typeface="TS Qamus Bold"/>
                <a:cs typeface="TS Qamus Bold"/>
                <a:sym typeface="TS Qamus Bold"/>
              </a:rPr>
              <a:t>MANAGEMENT</a:t>
            </a:r>
          </a:p>
        </p:txBody>
      </p:sp>
      <p:sp>
        <p:nvSpPr>
          <p:cNvPr name="TextBox 9" id="9"/>
          <p:cNvSpPr txBox="true"/>
          <p:nvPr/>
        </p:nvSpPr>
        <p:spPr>
          <a:xfrm rot="0">
            <a:off x="6818762" y="3554326"/>
            <a:ext cx="9182488" cy="20827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 Add multiple bank accounts and credit cards with bank name, account type, and current balance</a:t>
            </a:r>
          </a:p>
          <a:p>
            <a:pPr algn="just" marL="0" indent="0" lvl="0">
              <a:lnSpc>
                <a:spcPts val="2723"/>
              </a:lnSpc>
            </a:pPr>
            <a:r>
              <a:rPr lang="en-US" sz="2498">
                <a:solidFill>
                  <a:srgbClr val="18899D"/>
                </a:solidFill>
                <a:latin typeface="TS Qamus"/>
                <a:ea typeface="TS Qamus"/>
                <a:cs typeface="TS Qamus"/>
                <a:sym typeface="TS Qamus"/>
              </a:rPr>
              <a:t>• View aggregated total balance across all linked accounts at a glance</a:t>
            </a:r>
          </a:p>
          <a:p>
            <a:pPr algn="just" marL="0" indent="0" lvl="0">
              <a:lnSpc>
                <a:spcPts val="2723"/>
              </a:lnSpc>
            </a:pPr>
            <a:r>
              <a:rPr lang="en-US" sz="2498">
                <a:solidFill>
                  <a:srgbClr val="18899D"/>
                </a:solidFill>
                <a:latin typeface="TS Qamus"/>
                <a:ea typeface="TS Qamus"/>
                <a:cs typeface="TS Qamus"/>
                <a:sym typeface="TS Qamus"/>
              </a:rPr>
              <a:t>• Organized account listing for easy monitoring and management</a:t>
            </a:r>
          </a:p>
        </p:txBody>
      </p:sp>
      <p:sp>
        <p:nvSpPr>
          <p:cNvPr name="TextBox 10" id="10"/>
          <p:cNvSpPr txBox="true"/>
          <p:nvPr/>
        </p:nvSpPr>
        <p:spPr>
          <a:xfrm rot="0">
            <a:off x="6818762" y="6056226"/>
            <a:ext cx="9182488" cy="20827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 Supports various account types including savings, checking, and credit cards</a:t>
            </a:r>
          </a:p>
          <a:p>
            <a:pPr algn="just" marL="0" indent="0" lvl="0">
              <a:lnSpc>
                <a:spcPts val="2723"/>
              </a:lnSpc>
            </a:pPr>
            <a:r>
              <a:rPr lang="en-US" sz="2498">
                <a:solidFill>
                  <a:srgbClr val="18899D"/>
                </a:solidFill>
                <a:latin typeface="TS Qamus"/>
                <a:ea typeface="TS Qamus"/>
                <a:cs typeface="TS Qamus"/>
                <a:sym typeface="TS Qamus"/>
              </a:rPr>
              <a:t>• Real-time balance updates as transactions are recorded</a:t>
            </a:r>
          </a:p>
          <a:p>
            <a:pPr algn="just" marL="0" indent="0" lvl="0">
              <a:lnSpc>
                <a:spcPts val="2723"/>
              </a:lnSpc>
            </a:pPr>
            <a:r>
              <a:rPr lang="en-US" sz="2498">
                <a:solidFill>
                  <a:srgbClr val="18899D"/>
                </a:solidFill>
                <a:latin typeface="TS Qamus"/>
                <a:ea typeface="TS Qamus"/>
                <a:cs typeface="TS Qamus"/>
                <a:sym typeface="TS Qamus"/>
              </a:rPr>
              <a:t>• Seamlessly integrates with transfers, expenses, and income tracking for accurate financial data</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1806083"/>
            <a:ext cx="16230600" cy="6674834"/>
          </a:xfrm>
          <a:custGeom>
            <a:avLst/>
            <a:gdLst/>
            <a:ahLst/>
            <a:cxnLst/>
            <a:rect r="r" b="b" t="t" l="l"/>
            <a:pathLst>
              <a:path h="6674834" w="16230600">
                <a:moveTo>
                  <a:pt x="0" y="0"/>
                </a:moveTo>
                <a:lnTo>
                  <a:pt x="16230600" y="0"/>
                </a:lnTo>
                <a:lnTo>
                  <a:pt x="16230600" y="6674834"/>
                </a:lnTo>
                <a:lnTo>
                  <a:pt x="0" y="6674834"/>
                </a:lnTo>
                <a:lnTo>
                  <a:pt x="0" y="0"/>
                </a:lnTo>
                <a:close/>
              </a:path>
            </a:pathLst>
          </a:custGeom>
          <a:blipFill>
            <a:blip r:embed="rId4"/>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936111" y="1781268"/>
            <a:ext cx="10376622" cy="710535"/>
          </a:xfrm>
          <a:prstGeom prst="rect">
            <a:avLst/>
          </a:prstGeom>
        </p:spPr>
        <p:txBody>
          <a:bodyPr anchor="t" rtlCol="false" tIns="0" lIns="0" bIns="0" rIns="0">
            <a:spAutoFit/>
          </a:bodyPr>
          <a:lstStyle/>
          <a:p>
            <a:pPr algn="ctr" marL="0" indent="0" lvl="0">
              <a:lnSpc>
                <a:spcPts val="5464"/>
              </a:lnSpc>
            </a:pPr>
            <a:r>
              <a:rPr lang="en-US" b="true" sz="5013">
                <a:solidFill>
                  <a:srgbClr val="18899D"/>
                </a:solidFill>
                <a:latin typeface="TS Qamus Bold"/>
                <a:ea typeface="TS Qamus Bold"/>
                <a:cs typeface="TS Qamus Bold"/>
                <a:sym typeface="TS Qamus Bold"/>
              </a:rPr>
              <a:t>ACCOUNT TRANSFER SYSTEM</a:t>
            </a:r>
          </a:p>
        </p:txBody>
      </p:sp>
      <p:grpSp>
        <p:nvGrpSpPr>
          <p:cNvPr name="Group 4" id="4"/>
          <p:cNvGrpSpPr/>
          <p:nvPr/>
        </p:nvGrpSpPr>
        <p:grpSpPr>
          <a:xfrm rot="0">
            <a:off x="2247595" y="3544801"/>
            <a:ext cx="13753654" cy="4064600"/>
            <a:chOff x="0" y="0"/>
            <a:chExt cx="1222804" cy="361374"/>
          </a:xfrm>
        </p:grpSpPr>
        <p:sp>
          <p:nvSpPr>
            <p:cNvPr name="Freeform 5" id="5"/>
            <p:cNvSpPr/>
            <p:nvPr/>
          </p:nvSpPr>
          <p:spPr>
            <a:xfrm flipH="false" flipV="false" rot="0">
              <a:off x="0" y="0"/>
              <a:ext cx="1222804" cy="361374"/>
            </a:xfrm>
            <a:custGeom>
              <a:avLst/>
              <a:gdLst/>
              <a:ahLst/>
              <a:cxnLst/>
              <a:rect r="r" b="b" t="t" l="l"/>
              <a:pathLst>
                <a:path h="361374" w="1222804">
                  <a:moveTo>
                    <a:pt x="10994" y="0"/>
                  </a:moveTo>
                  <a:lnTo>
                    <a:pt x="1211810" y="0"/>
                  </a:lnTo>
                  <a:cubicBezTo>
                    <a:pt x="1214726" y="0"/>
                    <a:pt x="1217522" y="1158"/>
                    <a:pt x="1219584" y="3220"/>
                  </a:cubicBezTo>
                  <a:cubicBezTo>
                    <a:pt x="1221646" y="5282"/>
                    <a:pt x="1222804" y="8078"/>
                    <a:pt x="1222804" y="10994"/>
                  </a:cubicBezTo>
                  <a:lnTo>
                    <a:pt x="1222804" y="350380"/>
                  </a:lnTo>
                  <a:cubicBezTo>
                    <a:pt x="1222804" y="353295"/>
                    <a:pt x="1221646" y="356092"/>
                    <a:pt x="1219584" y="358154"/>
                  </a:cubicBezTo>
                  <a:cubicBezTo>
                    <a:pt x="1217522" y="360215"/>
                    <a:pt x="1214726" y="361374"/>
                    <a:pt x="1211810" y="361374"/>
                  </a:cubicBezTo>
                  <a:lnTo>
                    <a:pt x="10994" y="361374"/>
                  </a:lnTo>
                  <a:cubicBezTo>
                    <a:pt x="8078" y="361374"/>
                    <a:pt x="5282" y="360215"/>
                    <a:pt x="3220" y="358154"/>
                  </a:cubicBezTo>
                  <a:cubicBezTo>
                    <a:pt x="1158" y="356092"/>
                    <a:pt x="0" y="353295"/>
                    <a:pt x="0" y="350380"/>
                  </a:cubicBezTo>
                  <a:lnTo>
                    <a:pt x="0" y="10994"/>
                  </a:lnTo>
                  <a:cubicBezTo>
                    <a:pt x="0" y="8078"/>
                    <a:pt x="1158" y="5282"/>
                    <a:pt x="3220" y="3220"/>
                  </a:cubicBezTo>
                  <a:cubicBezTo>
                    <a:pt x="5282" y="1158"/>
                    <a:pt x="8078" y="0"/>
                    <a:pt x="10994" y="0"/>
                  </a:cubicBezTo>
                  <a:close/>
                </a:path>
              </a:pathLst>
            </a:custGeom>
            <a:solidFill>
              <a:srgbClr val="18899D"/>
            </a:solidFill>
          </p:spPr>
        </p:sp>
        <p:sp>
          <p:nvSpPr>
            <p:cNvPr name="TextBox 6" id="6"/>
            <p:cNvSpPr txBox="true"/>
            <p:nvPr/>
          </p:nvSpPr>
          <p:spPr>
            <a:xfrm>
              <a:off x="0" y="-38100"/>
              <a:ext cx="1222804" cy="39947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7" id="7"/>
          <p:cNvSpPr txBox="true"/>
          <p:nvPr/>
        </p:nvSpPr>
        <p:spPr>
          <a:xfrm rot="0">
            <a:off x="2631463" y="4035638"/>
            <a:ext cx="13025075" cy="2759075"/>
          </a:xfrm>
          <a:prstGeom prst="rect">
            <a:avLst/>
          </a:prstGeom>
        </p:spPr>
        <p:txBody>
          <a:bodyPr anchor="t" rtlCol="false" tIns="0" lIns="0" bIns="0" rIns="0">
            <a:spAutoFit/>
          </a:bodyPr>
          <a:lstStyle/>
          <a:p>
            <a:pPr algn="just" marL="0" indent="0" lvl="0">
              <a:lnSpc>
                <a:spcPts val="2724"/>
              </a:lnSpc>
            </a:pPr>
            <a:r>
              <a:rPr lang="en-US" sz="2499">
                <a:solidFill>
                  <a:srgbClr val="FFFFFF"/>
                </a:solidFill>
                <a:latin typeface="TS Qamus"/>
                <a:ea typeface="TS Qamus"/>
                <a:cs typeface="TS Qamus"/>
                <a:sym typeface="TS Qamus"/>
              </a:rPr>
              <a:t>Seamlessly transfer money between your linked bank accounts and credit cards within the app.</a:t>
            </a:r>
          </a:p>
          <a:p>
            <a:pPr algn="just" marL="0" indent="0" lvl="0">
              <a:lnSpc>
                <a:spcPts val="2724"/>
              </a:lnSpc>
            </a:pPr>
            <a:r>
              <a:rPr lang="en-US" sz="2499">
                <a:solidFill>
                  <a:srgbClr val="FFFFFF"/>
                </a:solidFill>
                <a:latin typeface="TS Qamus"/>
                <a:ea typeface="TS Qamus"/>
                <a:cs typeface="TS Qamus"/>
                <a:sym typeface="TS Qamus"/>
              </a:rPr>
              <a:t>• Select source (From) and destination (To) accounts from your registered accounts</a:t>
            </a:r>
          </a:p>
          <a:p>
            <a:pPr algn="just" marL="0" indent="0" lvl="0">
              <a:lnSpc>
                <a:spcPts val="2724"/>
              </a:lnSpc>
            </a:pPr>
            <a:r>
              <a:rPr lang="en-US" sz="2499">
                <a:solidFill>
                  <a:srgbClr val="FFFFFF"/>
                </a:solidFill>
                <a:latin typeface="TS Qamus"/>
                <a:ea typeface="TS Qamus"/>
                <a:cs typeface="TS Qamus"/>
                <a:sym typeface="TS Qamus"/>
              </a:rPr>
              <a:t>• Enter transfer amount, date, description, and current status</a:t>
            </a:r>
          </a:p>
          <a:p>
            <a:pPr algn="just" marL="0" indent="0" lvl="0">
              <a:lnSpc>
                <a:spcPts val="2724"/>
              </a:lnSpc>
            </a:pPr>
            <a:r>
              <a:rPr lang="en-US" sz="2499">
                <a:solidFill>
                  <a:srgbClr val="FFFFFF"/>
                </a:solidFill>
                <a:latin typeface="TS Qamus"/>
                <a:ea typeface="TS Qamus"/>
                <a:cs typeface="TS Qamus"/>
                <a:sym typeface="TS Qamus"/>
              </a:rPr>
              <a:t>• Track all inter-account transfers for accurate balance reconciliation</a:t>
            </a:r>
          </a:p>
          <a:p>
            <a:pPr algn="just" marL="0" indent="0" lvl="0">
              <a:lnSpc>
                <a:spcPts val="2724"/>
              </a:lnSpc>
            </a:pPr>
            <a:r>
              <a:rPr lang="en-US" sz="2499">
                <a:solidFill>
                  <a:srgbClr val="FFFFFF"/>
                </a:solidFill>
                <a:latin typeface="TS Qamus"/>
                <a:ea typeface="TS Qamus"/>
                <a:cs typeface="TS Qamus"/>
                <a:sym typeface="TS Qamus"/>
              </a:rPr>
              <a:t>• Maintain a complete transfer history for full financial transparency</a:t>
            </a:r>
          </a:p>
          <a:p>
            <a:pPr algn="just" marL="0" indent="0" lvl="0">
              <a:lnSpc>
                <a:spcPts val="2724"/>
              </a:lnSpc>
            </a:pPr>
            <a:r>
              <a:rPr lang="en-US" sz="2499">
                <a:solidFill>
                  <a:srgbClr val="FFFFFF"/>
                </a:solidFill>
                <a:latin typeface="TS Qamus"/>
                <a:ea typeface="TS Qamus"/>
                <a:cs typeface="TS Qamus"/>
                <a:sym typeface="TS Qamus"/>
              </a:rPr>
              <a:t>• Supports multiple account types: savings, current, and credit cards</a:t>
            </a:r>
          </a:p>
        </p:txBody>
      </p:sp>
      <p:sp>
        <p:nvSpPr>
          <p:cNvPr name="Freeform 8" id="8"/>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5465173" y="1028700"/>
            <a:ext cx="6834839" cy="8520767"/>
          </a:xfrm>
          <a:custGeom>
            <a:avLst/>
            <a:gdLst/>
            <a:ahLst/>
            <a:cxnLst/>
            <a:rect r="r" b="b" t="t" l="l"/>
            <a:pathLst>
              <a:path h="8520767" w="6834839">
                <a:moveTo>
                  <a:pt x="0" y="0"/>
                </a:moveTo>
                <a:lnTo>
                  <a:pt x="6834839" y="0"/>
                </a:lnTo>
                <a:lnTo>
                  <a:pt x="6834839" y="8520767"/>
                </a:lnTo>
                <a:lnTo>
                  <a:pt x="0" y="8520767"/>
                </a:lnTo>
                <a:lnTo>
                  <a:pt x="0" y="0"/>
                </a:lnTo>
                <a:close/>
              </a:path>
            </a:pathLst>
          </a:custGeom>
          <a:blipFill>
            <a:blip r:embed="rId4"/>
            <a:stretch>
              <a:fillRect l="0" t="-5371" r="-420" b="-3555"/>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492625" cy="44926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195398" t="0" r="-195398" b="0"/>
              </a:stretch>
            </a:blipFill>
          </p:spPr>
        </p:sp>
      </p:grpSp>
      <p:sp>
        <p:nvSpPr>
          <p:cNvPr name="TextBox 8" id="8"/>
          <p:cNvSpPr txBox="true"/>
          <p:nvPr/>
        </p:nvSpPr>
        <p:spPr>
          <a:xfrm rot="0">
            <a:off x="3955689" y="1076325"/>
            <a:ext cx="10376622" cy="1577659"/>
          </a:xfrm>
          <a:prstGeom prst="rect">
            <a:avLst/>
          </a:prstGeom>
        </p:spPr>
        <p:txBody>
          <a:bodyPr anchor="t" rtlCol="false" tIns="0" lIns="0" bIns="0" rIns="0">
            <a:spAutoFit/>
          </a:bodyPr>
          <a:lstStyle/>
          <a:p>
            <a:pPr algn="ctr" marL="0" indent="0" lvl="0">
              <a:lnSpc>
                <a:spcPts val="6127"/>
              </a:lnSpc>
            </a:pPr>
            <a:r>
              <a:rPr lang="en-US" b="true" sz="5621">
                <a:solidFill>
                  <a:srgbClr val="18899D"/>
                </a:solidFill>
                <a:latin typeface="TS Qamus Bold"/>
                <a:ea typeface="TS Qamus Bold"/>
                <a:cs typeface="TS Qamus Bold"/>
                <a:sym typeface="TS Qamus Bold"/>
              </a:rPr>
              <a:t>RECURRING TRANSACTIONS OVERVIEW</a:t>
            </a:r>
          </a:p>
        </p:txBody>
      </p:sp>
      <p:sp>
        <p:nvSpPr>
          <p:cNvPr name="TextBox 9" id="9"/>
          <p:cNvSpPr txBox="true"/>
          <p:nvPr/>
        </p:nvSpPr>
        <p:spPr>
          <a:xfrm rot="0">
            <a:off x="6818762" y="3554326"/>
            <a:ext cx="9182488" cy="20827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 Active setups: View all recurring entries currently configured and running automatically</a:t>
            </a:r>
          </a:p>
          <a:p>
            <a:pPr algn="just" marL="0" indent="0" lvl="0">
              <a:lnSpc>
                <a:spcPts val="2723"/>
              </a:lnSpc>
            </a:pPr>
            <a:r>
              <a:rPr lang="en-US" sz="2498">
                <a:solidFill>
                  <a:srgbClr val="18899D"/>
                </a:solidFill>
                <a:latin typeface="TS Qamus"/>
                <a:ea typeface="TS Qamus"/>
                <a:cs typeface="TS Qamus"/>
                <a:sym typeface="TS Qamus"/>
              </a:rPr>
              <a:t>• Monthly scheduled amounts: Track total recurring income and expenses planned each month</a:t>
            </a:r>
          </a:p>
          <a:p>
            <a:pPr algn="just" marL="0" indent="0" lvl="0">
              <a:lnSpc>
                <a:spcPts val="2723"/>
              </a:lnSpc>
            </a:pPr>
            <a:r>
              <a:rPr lang="en-US" sz="2498">
                <a:solidFill>
                  <a:srgbClr val="18899D"/>
                </a:solidFill>
                <a:latin typeface="TS Qamus"/>
                <a:ea typeface="TS Qamus"/>
                <a:cs typeface="TS Qamus"/>
                <a:sym typeface="TS Qamus"/>
              </a:rPr>
              <a:t>• Due transactions: Get timely alerts for upcoming recurring entries to avoid missed payments</a:t>
            </a:r>
          </a:p>
        </p:txBody>
      </p:sp>
      <p:sp>
        <p:nvSpPr>
          <p:cNvPr name="TextBox 10" id="10"/>
          <p:cNvSpPr txBox="true"/>
          <p:nvPr/>
        </p:nvSpPr>
        <p:spPr>
          <a:xfrm rot="0">
            <a:off x="6818762" y="6056226"/>
            <a:ext cx="9182488" cy="20827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 Automate repeated entries like salary, rent, utility bills, and subscriptions effortlessly</a:t>
            </a:r>
          </a:p>
          <a:p>
            <a:pPr algn="just" marL="0" indent="0" lvl="0">
              <a:lnSpc>
                <a:spcPts val="2723"/>
              </a:lnSpc>
            </a:pPr>
            <a:r>
              <a:rPr lang="en-US" sz="2498">
                <a:solidFill>
                  <a:srgbClr val="18899D"/>
                </a:solidFill>
                <a:latin typeface="TS Qamus"/>
                <a:ea typeface="TS Qamus"/>
                <a:cs typeface="TS Qamus"/>
                <a:sym typeface="TS Qamus"/>
              </a:rPr>
              <a:t>• Saves time by eliminating manual re-entry of regular financial transactions</a:t>
            </a:r>
          </a:p>
          <a:p>
            <a:pPr algn="just" marL="0" indent="0" lvl="0">
              <a:lnSpc>
                <a:spcPts val="2723"/>
              </a:lnSpc>
            </a:pPr>
            <a:r>
              <a:rPr lang="en-US" sz="2498">
                <a:solidFill>
                  <a:srgbClr val="18899D"/>
                </a:solidFill>
                <a:latin typeface="TS Qamus"/>
                <a:ea typeface="TS Qamus"/>
                <a:cs typeface="TS Qamus"/>
                <a:sym typeface="TS Qamus"/>
              </a:rPr>
              <a:t>• Ensures financial consistency and accuracy across all accounts and reports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3490008"/>
            <a:ext cx="16230600" cy="3306985"/>
          </a:xfrm>
          <a:custGeom>
            <a:avLst/>
            <a:gdLst/>
            <a:ahLst/>
            <a:cxnLst/>
            <a:rect r="r" b="b" t="t" l="l"/>
            <a:pathLst>
              <a:path h="3306985" w="16230600">
                <a:moveTo>
                  <a:pt x="0" y="0"/>
                </a:moveTo>
                <a:lnTo>
                  <a:pt x="16230600" y="0"/>
                </a:lnTo>
                <a:lnTo>
                  <a:pt x="16230600" y="3306984"/>
                </a:lnTo>
                <a:lnTo>
                  <a:pt x="0" y="3306984"/>
                </a:lnTo>
                <a:lnTo>
                  <a:pt x="0" y="0"/>
                </a:lnTo>
                <a:close/>
              </a:path>
            </a:pathLst>
          </a:custGeom>
          <a:blipFill>
            <a:blip r:embed="rId4"/>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492625" cy="44926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48522" t="0" r="-48522" b="0"/>
              </a:stretch>
            </a:blipFill>
          </p:spPr>
        </p:sp>
      </p:grpSp>
      <p:sp>
        <p:nvSpPr>
          <p:cNvPr name="TextBox 8" id="8"/>
          <p:cNvSpPr txBox="true"/>
          <p:nvPr/>
        </p:nvSpPr>
        <p:spPr>
          <a:xfrm rot="0">
            <a:off x="3955689" y="1085850"/>
            <a:ext cx="10376622" cy="1964802"/>
          </a:xfrm>
          <a:prstGeom prst="rect">
            <a:avLst/>
          </a:prstGeom>
        </p:spPr>
        <p:txBody>
          <a:bodyPr anchor="t" rtlCol="false" tIns="0" lIns="0" bIns="0" rIns="0">
            <a:spAutoFit/>
          </a:bodyPr>
          <a:lstStyle/>
          <a:p>
            <a:pPr algn="ctr" marL="0" indent="0" lvl="0">
              <a:lnSpc>
                <a:spcPts val="7619"/>
              </a:lnSpc>
            </a:pPr>
            <a:r>
              <a:rPr lang="en-US" b="true" sz="6989">
                <a:solidFill>
                  <a:srgbClr val="18899D"/>
                </a:solidFill>
                <a:latin typeface="TS Qamus Bold"/>
                <a:ea typeface="TS Qamus Bold"/>
                <a:cs typeface="TS Qamus Bold"/>
                <a:sym typeface="TS Qamus Bold"/>
              </a:rPr>
              <a:t>RECURRING TRANSACTION SETUP</a:t>
            </a:r>
          </a:p>
        </p:txBody>
      </p:sp>
      <p:sp>
        <p:nvSpPr>
          <p:cNvPr name="TextBox 9" id="9"/>
          <p:cNvSpPr txBox="true"/>
          <p:nvPr/>
        </p:nvSpPr>
        <p:spPr>
          <a:xfrm rot="0">
            <a:off x="6818762" y="3563851"/>
            <a:ext cx="9182488" cy="1730375"/>
          </a:xfrm>
          <a:prstGeom prst="rect">
            <a:avLst/>
          </a:prstGeom>
        </p:spPr>
        <p:txBody>
          <a:bodyPr anchor="t" rtlCol="false" tIns="0" lIns="0" bIns="0" rIns="0">
            <a:spAutoFit/>
          </a:bodyPr>
          <a:lstStyle/>
          <a:p>
            <a:pPr algn="just" marL="0" indent="0" lvl="0">
              <a:lnSpc>
                <a:spcPts val="2724"/>
              </a:lnSpc>
            </a:pPr>
            <a:r>
              <a:rPr lang="en-US" sz="2499">
                <a:solidFill>
                  <a:srgbClr val="18899D"/>
                </a:solidFill>
                <a:latin typeface="TS Qamus"/>
                <a:ea typeface="TS Qamus"/>
                <a:cs typeface="TS Qamus"/>
                <a:sym typeface="TS Qamus"/>
              </a:rPr>
              <a:t>Configure new recurring payments or incomes with ease:</a:t>
            </a:r>
          </a:p>
          <a:p>
            <a:pPr algn="just" marL="0" indent="0" lvl="0">
              <a:lnSpc>
                <a:spcPts val="2724"/>
              </a:lnSpc>
            </a:pPr>
            <a:r>
              <a:rPr lang="en-US" sz="2499">
                <a:solidFill>
                  <a:srgbClr val="18899D"/>
                </a:solidFill>
                <a:latin typeface="TS Qamus"/>
                <a:ea typeface="TS Qamus"/>
                <a:cs typeface="TS Qamus"/>
                <a:sym typeface="TS Qamus"/>
              </a:rPr>
              <a:t>• Define title, amount, and transaction type</a:t>
            </a:r>
          </a:p>
          <a:p>
            <a:pPr algn="just" marL="0" indent="0" lvl="0">
              <a:lnSpc>
                <a:spcPts val="2724"/>
              </a:lnSpc>
            </a:pPr>
            <a:r>
              <a:rPr lang="en-US" sz="2499">
                <a:solidFill>
                  <a:srgbClr val="18899D"/>
                </a:solidFill>
                <a:latin typeface="TS Qamus"/>
                <a:ea typeface="TS Qamus"/>
                <a:cs typeface="TS Qamus"/>
                <a:sym typeface="TS Qamus"/>
              </a:rPr>
              <a:t>• Set recurrence frequency (daily, weekly, monthly)</a:t>
            </a:r>
          </a:p>
          <a:p>
            <a:pPr algn="just" marL="0" indent="0" lvl="0">
              <a:lnSpc>
                <a:spcPts val="2724"/>
              </a:lnSpc>
            </a:pPr>
            <a:r>
              <a:rPr lang="en-US" sz="2499">
                <a:solidFill>
                  <a:srgbClr val="18899D"/>
                </a:solidFill>
                <a:latin typeface="TS Qamus"/>
                <a:ea typeface="TS Qamus"/>
                <a:cs typeface="TS Qamus"/>
                <a:sym typeface="TS Qamus"/>
              </a:rPr>
              <a:t>• Specify next scheduled date and category</a:t>
            </a:r>
          </a:p>
        </p:txBody>
      </p:sp>
      <p:sp>
        <p:nvSpPr>
          <p:cNvPr name="TextBox 10" id="10"/>
          <p:cNvSpPr txBox="true"/>
          <p:nvPr/>
        </p:nvSpPr>
        <p:spPr>
          <a:xfrm rot="0">
            <a:off x="6818762" y="6065751"/>
            <a:ext cx="9182488" cy="1387475"/>
          </a:xfrm>
          <a:prstGeom prst="rect">
            <a:avLst/>
          </a:prstGeom>
        </p:spPr>
        <p:txBody>
          <a:bodyPr anchor="t" rtlCol="false" tIns="0" lIns="0" bIns="0" rIns="0">
            <a:spAutoFit/>
          </a:bodyPr>
          <a:lstStyle/>
          <a:p>
            <a:pPr algn="just" marL="0" indent="0" lvl="0">
              <a:lnSpc>
                <a:spcPts val="2724"/>
              </a:lnSpc>
            </a:pPr>
            <a:r>
              <a:rPr lang="en-US" sz="2499">
                <a:solidFill>
                  <a:srgbClr val="18899D"/>
                </a:solidFill>
                <a:latin typeface="TS Qamus"/>
                <a:ea typeface="TS Qamus"/>
                <a:cs typeface="TS Qamus"/>
                <a:sym typeface="TS Qamus"/>
              </a:rPr>
              <a:t>Automate your financial entries effortlessly:</a:t>
            </a:r>
          </a:p>
          <a:p>
            <a:pPr algn="just" marL="0" indent="0" lvl="0">
              <a:lnSpc>
                <a:spcPts val="2724"/>
              </a:lnSpc>
            </a:pPr>
            <a:r>
              <a:rPr lang="en-US" sz="2499">
                <a:solidFill>
                  <a:srgbClr val="18899D"/>
                </a:solidFill>
                <a:latin typeface="TS Qamus"/>
                <a:ea typeface="TS Qamus"/>
                <a:cs typeface="TS Qamus"/>
                <a:sym typeface="TS Qamus"/>
              </a:rPr>
              <a:t>• Set transaction status (active/inactive)</a:t>
            </a:r>
          </a:p>
          <a:p>
            <a:pPr algn="just" marL="0" indent="0" lvl="0">
              <a:lnSpc>
                <a:spcPts val="2724"/>
              </a:lnSpc>
            </a:pPr>
            <a:r>
              <a:rPr lang="en-US" sz="2499">
                <a:solidFill>
                  <a:srgbClr val="18899D"/>
                </a:solidFill>
                <a:latin typeface="TS Qamus"/>
                <a:ea typeface="TS Qamus"/>
                <a:cs typeface="TS Qamus"/>
                <a:sym typeface="TS Qamus"/>
              </a:rPr>
              <a:t>• Manage automatic posting of recurring transactions</a:t>
            </a:r>
          </a:p>
          <a:p>
            <a:pPr algn="just" marL="0" indent="0" lvl="0">
              <a:lnSpc>
                <a:spcPts val="2724"/>
              </a:lnSpc>
            </a:pPr>
            <a:r>
              <a:rPr lang="en-US" sz="2499">
                <a:solidFill>
                  <a:srgbClr val="18899D"/>
                </a:solidFill>
                <a:latin typeface="TS Qamus"/>
                <a:ea typeface="TS Qamus"/>
                <a:cs typeface="TS Qamus"/>
                <a:sym typeface="TS Qamus"/>
              </a:rPr>
              <a:t>• Reduces manual entry and ensures consistency</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36020" y="1028700"/>
            <a:ext cx="16215961" cy="8229600"/>
          </a:xfrm>
          <a:custGeom>
            <a:avLst/>
            <a:gdLst/>
            <a:ahLst/>
            <a:cxnLst/>
            <a:rect r="r" b="b" t="t" l="l"/>
            <a:pathLst>
              <a:path h="8229600" w="16215961">
                <a:moveTo>
                  <a:pt x="0" y="0"/>
                </a:moveTo>
                <a:lnTo>
                  <a:pt x="16215960" y="0"/>
                </a:lnTo>
                <a:lnTo>
                  <a:pt x="16215960" y="8229600"/>
                </a:lnTo>
                <a:lnTo>
                  <a:pt x="0" y="8229600"/>
                </a:lnTo>
                <a:lnTo>
                  <a:pt x="0" y="0"/>
                </a:lnTo>
                <a:close/>
              </a:path>
            </a:pathLst>
          </a:custGeom>
          <a:blipFill>
            <a:blip r:embed="rId4"/>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492625" cy="44926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1047" t="0" r="-21047" b="0"/>
              </a:stretch>
            </a:blipFill>
          </p:spPr>
        </p:sp>
      </p:grpSp>
      <p:sp>
        <p:nvSpPr>
          <p:cNvPr name="TextBox 8" id="8"/>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EXPENSE SPLITTING SYSTEM</a:t>
            </a:r>
          </a:p>
        </p:txBody>
      </p:sp>
      <p:sp>
        <p:nvSpPr>
          <p:cNvPr name="TextBox 9" id="9"/>
          <p:cNvSpPr txBox="true"/>
          <p:nvPr/>
        </p:nvSpPr>
        <p:spPr>
          <a:xfrm rot="0">
            <a:off x="6818762" y="3554326"/>
            <a:ext cx="9182488" cy="20827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 Create split bills with participants, amounts, and payment tracking</a:t>
            </a:r>
          </a:p>
          <a:p>
            <a:pPr algn="just" marL="0" indent="0" lvl="0">
              <a:lnSpc>
                <a:spcPts val="2723"/>
              </a:lnSpc>
            </a:pPr>
            <a:r>
              <a:rPr lang="en-US" sz="2498">
                <a:solidFill>
                  <a:srgbClr val="18899D"/>
                </a:solidFill>
                <a:latin typeface="TS Qamus"/>
                <a:ea typeface="TS Qamus"/>
                <a:cs typeface="TS Qamus"/>
                <a:sym typeface="TS Qamus"/>
              </a:rPr>
              <a:t>• Manage settled and pending shared expenses for full transparency</a:t>
            </a:r>
          </a:p>
          <a:p>
            <a:pPr algn="just" marL="0" indent="0" lvl="0">
              <a:lnSpc>
                <a:spcPts val="2723"/>
              </a:lnSpc>
            </a:pPr>
            <a:r>
              <a:rPr lang="en-US" sz="2498">
                <a:solidFill>
                  <a:srgbClr val="18899D"/>
                </a:solidFill>
                <a:latin typeface="TS Qamus"/>
                <a:ea typeface="TS Qamus"/>
                <a:cs typeface="TS Qamus"/>
                <a:sym typeface="TS Qamus"/>
              </a:rPr>
              <a:t>• Assign shares to each participant with flexible split options</a:t>
            </a:r>
          </a:p>
        </p:txBody>
      </p:sp>
      <p:sp>
        <p:nvSpPr>
          <p:cNvPr name="TextBox 10" id="10"/>
          <p:cNvSpPr txBox="true"/>
          <p:nvPr/>
        </p:nvSpPr>
        <p:spPr>
          <a:xfrm rot="0">
            <a:off x="6818762" y="6056226"/>
            <a:ext cx="9182488" cy="20827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 Track who has paid and who owes for each shared expense</a:t>
            </a:r>
          </a:p>
          <a:p>
            <a:pPr algn="just" marL="0" indent="0" lvl="0">
              <a:lnSpc>
                <a:spcPts val="2723"/>
              </a:lnSpc>
            </a:pPr>
            <a:r>
              <a:rPr lang="en-US" sz="2498">
                <a:solidFill>
                  <a:srgbClr val="18899D"/>
                </a:solidFill>
                <a:latin typeface="TS Qamus"/>
                <a:ea typeface="TS Qamus"/>
                <a:cs typeface="TS Qamus"/>
                <a:sym typeface="TS Qamus"/>
              </a:rPr>
              <a:t>• View split history and outstanding balances at a glance</a:t>
            </a:r>
          </a:p>
          <a:p>
            <a:pPr algn="just" marL="0" indent="0" lvl="0">
              <a:lnSpc>
                <a:spcPts val="2723"/>
              </a:lnSpc>
            </a:pPr>
            <a:r>
              <a:rPr lang="en-US" sz="2498">
                <a:solidFill>
                  <a:srgbClr val="18899D"/>
                </a:solidFill>
                <a:latin typeface="TS Qamus"/>
                <a:ea typeface="TS Qamus"/>
                <a:cs typeface="TS Qamus"/>
                <a:sym typeface="TS Qamus"/>
              </a:rPr>
              <a:t>• Simplifies cost sharing among friends and family members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297037" y="965100"/>
            <a:ext cx="11693925" cy="8229600"/>
          </a:xfrm>
          <a:custGeom>
            <a:avLst/>
            <a:gdLst/>
            <a:ahLst/>
            <a:cxnLst/>
            <a:rect r="r" b="b" t="t" l="l"/>
            <a:pathLst>
              <a:path h="8229600" w="11693925">
                <a:moveTo>
                  <a:pt x="0" y="0"/>
                </a:moveTo>
                <a:lnTo>
                  <a:pt x="11693926" y="0"/>
                </a:lnTo>
                <a:lnTo>
                  <a:pt x="11693926" y="8229600"/>
                </a:lnTo>
                <a:lnTo>
                  <a:pt x="0" y="8229600"/>
                </a:lnTo>
                <a:lnTo>
                  <a:pt x="0" y="0"/>
                </a:lnTo>
                <a:close/>
              </a:path>
            </a:pathLst>
          </a:custGeom>
          <a:blipFill>
            <a:blip r:embed="rId4"/>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492625" cy="44926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34566" t="0" r="-34566" b="0"/>
              </a:stretch>
            </a:blipFill>
          </p:spPr>
        </p:sp>
      </p:grpSp>
      <p:sp>
        <p:nvSpPr>
          <p:cNvPr name="TextBox 8" id="8"/>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RECEIPT MANAGEMENT</a:t>
            </a:r>
          </a:p>
        </p:txBody>
      </p:sp>
      <p:sp>
        <p:nvSpPr>
          <p:cNvPr name="TextBox 9" id="9"/>
          <p:cNvSpPr txBox="true"/>
          <p:nvPr/>
        </p:nvSpPr>
        <p:spPr>
          <a:xfrm rot="0">
            <a:off x="6818762" y="3554326"/>
            <a:ext cx="9182488" cy="20827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Upload and store proofs of expenses with ease:</a:t>
            </a:r>
          </a:p>
          <a:p>
            <a:pPr algn="just" marL="0" indent="0" lvl="0">
              <a:lnSpc>
                <a:spcPts val="2723"/>
              </a:lnSpc>
            </a:pPr>
            <a:r>
              <a:rPr lang="en-US" sz="2498">
                <a:solidFill>
                  <a:srgbClr val="18899D"/>
                </a:solidFill>
                <a:latin typeface="TS Qamus"/>
                <a:ea typeface="TS Qamus"/>
                <a:cs typeface="TS Qamus"/>
                <a:sym typeface="TS Qamus"/>
              </a:rPr>
              <a:t>• Upload receipts with titles, expense names, amounts, and files</a:t>
            </a:r>
          </a:p>
          <a:p>
            <a:pPr algn="just" marL="0" indent="0" lvl="0">
              <a:lnSpc>
                <a:spcPts val="2723"/>
              </a:lnSpc>
            </a:pPr>
            <a:r>
              <a:rPr lang="en-US" sz="2498">
                <a:solidFill>
                  <a:srgbClr val="18899D"/>
                </a:solidFill>
                <a:latin typeface="TS Qamus"/>
                <a:ea typeface="TS Qamus"/>
                <a:cs typeface="TS Qamus"/>
                <a:sym typeface="TS Qamus"/>
              </a:rPr>
              <a:t>• Attach receipts directly to expense entries for full traceability</a:t>
            </a:r>
          </a:p>
          <a:p>
            <a:pPr algn="just" marL="0" indent="0" lvl="0">
              <a:lnSpc>
                <a:spcPts val="2723"/>
              </a:lnSpc>
            </a:pPr>
            <a:r>
              <a:rPr lang="en-US" sz="2498">
                <a:solidFill>
                  <a:srgbClr val="18899D"/>
                </a:solidFill>
                <a:latin typeface="TS Qamus"/>
                <a:ea typeface="TS Qamus"/>
                <a:cs typeface="TS Qamus"/>
                <a:sym typeface="TS Qamus"/>
              </a:rPr>
              <a:t>• Organize receipt records with searchable history</a:t>
            </a:r>
          </a:p>
        </p:txBody>
      </p:sp>
      <p:sp>
        <p:nvSpPr>
          <p:cNvPr name="TextBox 10" id="10"/>
          <p:cNvSpPr txBox="true"/>
          <p:nvPr/>
        </p:nvSpPr>
        <p:spPr>
          <a:xfrm rot="0">
            <a:off x="6818762" y="6056226"/>
            <a:ext cx="9182488" cy="20827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Access and manage your stored receipts anytime:</a:t>
            </a:r>
          </a:p>
          <a:p>
            <a:pPr algn="just" marL="0" indent="0" lvl="0">
              <a:lnSpc>
                <a:spcPts val="2723"/>
              </a:lnSpc>
            </a:pPr>
            <a:r>
              <a:rPr lang="en-US" sz="2498">
                <a:solidFill>
                  <a:srgbClr val="18899D"/>
                </a:solidFill>
                <a:latin typeface="TS Qamus"/>
                <a:ea typeface="TS Qamus"/>
                <a:cs typeface="TS Qamus"/>
                <a:sym typeface="TS Qamus"/>
              </a:rPr>
              <a:t>• View all uploaded receipts in a centralized receipt library</a:t>
            </a:r>
          </a:p>
          <a:p>
            <a:pPr algn="just" marL="0" indent="0" lvl="0">
              <a:lnSpc>
                <a:spcPts val="2723"/>
              </a:lnSpc>
            </a:pPr>
            <a:r>
              <a:rPr lang="en-US" sz="2498">
                <a:solidFill>
                  <a:srgbClr val="18899D"/>
                </a:solidFill>
                <a:latin typeface="TS Qamus"/>
                <a:ea typeface="TS Qamus"/>
                <a:cs typeface="TS Qamus"/>
                <a:sym typeface="TS Qamus"/>
              </a:rPr>
              <a:t>• Download receipts as PDFs for record-keeping or sharing</a:t>
            </a:r>
          </a:p>
          <a:p>
            <a:pPr algn="just" marL="0" indent="0" lvl="0">
              <a:lnSpc>
                <a:spcPts val="2723"/>
              </a:lnSpc>
            </a:pPr>
            <a:r>
              <a:rPr lang="en-US" sz="2498">
                <a:solidFill>
                  <a:srgbClr val="18899D"/>
                </a:solidFill>
                <a:latin typeface="TS Qamus"/>
                <a:ea typeface="TS Qamus"/>
                <a:cs typeface="TS Qamus"/>
                <a:sym typeface="TS Qamus"/>
              </a:rPr>
              <a:t>• Simplifies auditing, tax filing, and expense verification</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84507" y="1028700"/>
            <a:ext cx="13918985" cy="8229600"/>
          </a:xfrm>
          <a:custGeom>
            <a:avLst/>
            <a:gdLst/>
            <a:ahLst/>
            <a:cxnLst/>
            <a:rect r="r" b="b" t="t" l="l"/>
            <a:pathLst>
              <a:path h="8229600" w="13918985">
                <a:moveTo>
                  <a:pt x="0" y="0"/>
                </a:moveTo>
                <a:lnTo>
                  <a:pt x="13918986" y="0"/>
                </a:lnTo>
                <a:lnTo>
                  <a:pt x="13918986" y="8229600"/>
                </a:lnTo>
                <a:lnTo>
                  <a:pt x="0" y="8229600"/>
                </a:lnTo>
                <a:lnTo>
                  <a:pt x="0" y="0"/>
                </a:lnTo>
                <a:close/>
              </a:path>
            </a:pathLst>
          </a:custGeom>
          <a:blipFill>
            <a:blip r:embed="rId4"/>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492625" cy="44926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127777" t="0" r="-127777" b="0"/>
              </a:stretch>
            </a:blipFill>
          </p:spPr>
        </p:sp>
      </p:grpSp>
      <p:sp>
        <p:nvSpPr>
          <p:cNvPr name="TextBox 8" id="8"/>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NOTIFICATIONS</a:t>
            </a:r>
          </a:p>
          <a:p>
            <a:pPr algn="ctr" marL="0" indent="0" lvl="0">
              <a:lnSpc>
                <a:spcPts val="7909"/>
              </a:lnSpc>
            </a:pPr>
            <a:r>
              <a:rPr lang="en-US" b="true" sz="7255">
                <a:solidFill>
                  <a:srgbClr val="18899D"/>
                </a:solidFill>
                <a:latin typeface="TS Qamus Bold"/>
                <a:ea typeface="TS Qamus Bold"/>
                <a:cs typeface="TS Qamus Bold"/>
                <a:sym typeface="TS Qamus Bold"/>
              </a:rPr>
              <a:t>&amp; ALERTS</a:t>
            </a:r>
          </a:p>
        </p:txBody>
      </p:sp>
      <p:sp>
        <p:nvSpPr>
          <p:cNvPr name="TextBox 9" id="9"/>
          <p:cNvSpPr txBox="true"/>
          <p:nvPr/>
        </p:nvSpPr>
        <p:spPr>
          <a:xfrm rot="0">
            <a:off x="6818762" y="3554326"/>
            <a:ext cx="9182488" cy="20827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 Budget breach warnings notify users instantly when spending exceeds defined limits, helping prevent overspending across categories.</a:t>
            </a:r>
          </a:p>
          <a:p>
            <a:pPr algn="just" marL="0" indent="0" lvl="0">
              <a:lnSpc>
                <a:spcPts val="2723"/>
              </a:lnSpc>
            </a:pPr>
            <a:r>
              <a:rPr lang="en-US" sz="2498">
                <a:solidFill>
                  <a:srgbClr val="18899D"/>
                </a:solidFill>
                <a:latin typeface="TS Qamus"/>
                <a:ea typeface="TS Qamus"/>
                <a:cs typeface="TS Qamus"/>
                <a:sym typeface="TS Qamus"/>
              </a:rPr>
              <a:t>• Savings goal reminders keep users on track with personalized alerts as target dates approach or progress stalls.</a:t>
            </a:r>
          </a:p>
        </p:txBody>
      </p:sp>
      <p:sp>
        <p:nvSpPr>
          <p:cNvPr name="TextBox 10" id="10"/>
          <p:cNvSpPr txBox="true"/>
          <p:nvPr/>
        </p:nvSpPr>
        <p:spPr>
          <a:xfrm rot="0">
            <a:off x="6818762" y="6056226"/>
            <a:ext cx="9182488" cy="20827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 EMI and bill due alerts ensure timely payments by notifying users ahead of scheduled recurring transactions.</a:t>
            </a:r>
          </a:p>
          <a:p>
            <a:pPr algn="just" marL="0" indent="0" lvl="0">
              <a:lnSpc>
                <a:spcPts val="2723"/>
              </a:lnSpc>
            </a:pPr>
            <a:r>
              <a:rPr lang="en-US" sz="2498">
                <a:solidFill>
                  <a:srgbClr val="18899D"/>
                </a:solidFill>
                <a:latin typeface="TS Qamus"/>
                <a:ea typeface="TS Qamus"/>
                <a:cs typeface="TS Qamus"/>
                <a:sym typeface="TS Qamus"/>
              </a:rPr>
              <a:t>• Alert center overview prioritizes notifications by importance, giving users a clear and organized view of all active financial alerts.</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2861072"/>
            <a:ext cx="16230600" cy="4564856"/>
          </a:xfrm>
          <a:custGeom>
            <a:avLst/>
            <a:gdLst/>
            <a:ahLst/>
            <a:cxnLst/>
            <a:rect r="r" b="b" t="t" l="l"/>
            <a:pathLst>
              <a:path h="4564856" w="16230600">
                <a:moveTo>
                  <a:pt x="0" y="0"/>
                </a:moveTo>
                <a:lnTo>
                  <a:pt x="16230600" y="0"/>
                </a:lnTo>
                <a:lnTo>
                  <a:pt x="16230600" y="4564856"/>
                </a:lnTo>
                <a:lnTo>
                  <a:pt x="0" y="4564856"/>
                </a:lnTo>
                <a:lnTo>
                  <a:pt x="0" y="0"/>
                </a:lnTo>
                <a:close/>
              </a:path>
            </a:pathLst>
          </a:custGeom>
          <a:blipFill>
            <a:blip r:embed="rId4"/>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492625" cy="44926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66959" t="0" r="-66959" b="0"/>
              </a:stretch>
            </a:blipFill>
          </p:spPr>
        </p:sp>
      </p:grpSp>
      <p:sp>
        <p:nvSpPr>
          <p:cNvPr name="TextBox 8" id="8"/>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REPORTS &amp;</a:t>
            </a:r>
          </a:p>
          <a:p>
            <a:pPr algn="ctr" marL="0" indent="0" lvl="0">
              <a:lnSpc>
                <a:spcPts val="7909"/>
              </a:lnSpc>
            </a:pPr>
            <a:r>
              <a:rPr lang="en-US" b="true" sz="7255">
                <a:solidFill>
                  <a:srgbClr val="18899D"/>
                </a:solidFill>
                <a:latin typeface="TS Qamus Bold"/>
                <a:ea typeface="TS Qamus Bold"/>
                <a:cs typeface="TS Qamus Bold"/>
                <a:sym typeface="TS Qamus Bold"/>
              </a:rPr>
              <a:t>ANALYTICS</a:t>
            </a:r>
          </a:p>
        </p:txBody>
      </p:sp>
      <p:sp>
        <p:nvSpPr>
          <p:cNvPr name="TextBox 9" id="9"/>
          <p:cNvSpPr txBox="true"/>
          <p:nvPr/>
        </p:nvSpPr>
        <p:spPr>
          <a:xfrm rot="0">
            <a:off x="6818762" y="3563851"/>
            <a:ext cx="9182488" cy="1387475"/>
          </a:xfrm>
          <a:prstGeom prst="rect">
            <a:avLst/>
          </a:prstGeom>
        </p:spPr>
        <p:txBody>
          <a:bodyPr anchor="t" rtlCol="false" tIns="0" lIns="0" bIns="0" rIns="0">
            <a:spAutoFit/>
          </a:bodyPr>
          <a:lstStyle/>
          <a:p>
            <a:pPr algn="just" marL="0" indent="0" lvl="0">
              <a:lnSpc>
                <a:spcPts val="2724"/>
              </a:lnSpc>
            </a:pPr>
            <a:r>
              <a:rPr lang="en-US" sz="2499">
                <a:solidFill>
                  <a:srgbClr val="18899D"/>
                </a:solidFill>
                <a:latin typeface="TS Qamus"/>
                <a:ea typeface="TS Qamus"/>
                <a:cs typeface="TS Qamus"/>
                <a:sym typeface="TS Qamus"/>
              </a:rPr>
              <a:t>Comprehensive financial analysis across multiple timeframes — daily, weekly, monthly, and yearly summaries give users a complete picture of their financial health at any point in time.</a:t>
            </a:r>
          </a:p>
        </p:txBody>
      </p:sp>
      <p:sp>
        <p:nvSpPr>
          <p:cNvPr name="TextBox 10" id="10"/>
          <p:cNvSpPr txBox="true"/>
          <p:nvPr/>
        </p:nvSpPr>
        <p:spPr>
          <a:xfrm rot="0">
            <a:off x="6818762" y="6065751"/>
            <a:ext cx="9182488" cy="1387475"/>
          </a:xfrm>
          <a:prstGeom prst="rect">
            <a:avLst/>
          </a:prstGeom>
        </p:spPr>
        <p:txBody>
          <a:bodyPr anchor="t" rtlCol="false" tIns="0" lIns="0" bIns="0" rIns="0">
            <a:spAutoFit/>
          </a:bodyPr>
          <a:lstStyle/>
          <a:p>
            <a:pPr algn="just" marL="0" indent="0" lvl="0">
              <a:lnSpc>
                <a:spcPts val="2724"/>
              </a:lnSpc>
            </a:pPr>
            <a:r>
              <a:rPr lang="en-US" sz="2499">
                <a:solidFill>
                  <a:srgbClr val="18899D"/>
                </a:solidFill>
                <a:latin typeface="TS Qamus"/>
                <a:ea typeface="TS Qamus"/>
                <a:cs typeface="TS Qamus"/>
                <a:sym typeface="TS Qamus"/>
              </a:rPr>
              <a:t>Gain insights into top spending categories, monthly income vs. expense trends, and savings rate performance. Identify patterns and make informed decisions to optimize your financial strategy.</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1674209"/>
            <a:ext cx="16230600" cy="6938581"/>
          </a:xfrm>
          <a:custGeom>
            <a:avLst/>
            <a:gdLst/>
            <a:ahLst/>
            <a:cxnLst/>
            <a:rect r="r" b="b" t="t" l="l"/>
            <a:pathLst>
              <a:path h="6938581" w="16230600">
                <a:moveTo>
                  <a:pt x="0" y="0"/>
                </a:moveTo>
                <a:lnTo>
                  <a:pt x="16230600" y="0"/>
                </a:lnTo>
                <a:lnTo>
                  <a:pt x="16230600" y="6938582"/>
                </a:lnTo>
                <a:lnTo>
                  <a:pt x="0" y="6938582"/>
                </a:lnTo>
                <a:lnTo>
                  <a:pt x="0" y="0"/>
                </a:lnTo>
                <a:close/>
              </a:path>
            </a:pathLst>
          </a:custGeom>
          <a:blipFill>
            <a:blip r:embed="rId4"/>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492625" cy="44926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50502" t="0" r="-50502" b="0"/>
              </a:stretch>
            </a:blipFill>
          </p:spPr>
        </p:sp>
      </p:grpSp>
      <p:sp>
        <p:nvSpPr>
          <p:cNvPr name="TextBox 8" id="8"/>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EXPORT &amp; DOWNLOAD SYSTEM</a:t>
            </a:r>
          </a:p>
        </p:txBody>
      </p:sp>
      <p:sp>
        <p:nvSpPr>
          <p:cNvPr name="TextBox 9" id="9"/>
          <p:cNvSpPr txBox="true"/>
          <p:nvPr/>
        </p:nvSpPr>
        <p:spPr>
          <a:xfrm rot="0">
            <a:off x="6818762" y="3554326"/>
            <a:ext cx="9182488" cy="1908583"/>
          </a:xfrm>
          <a:prstGeom prst="rect">
            <a:avLst/>
          </a:prstGeom>
        </p:spPr>
        <p:txBody>
          <a:bodyPr anchor="t" rtlCol="false" tIns="0" lIns="0" bIns="0" rIns="0">
            <a:spAutoFit/>
          </a:bodyPr>
          <a:lstStyle/>
          <a:p>
            <a:pPr algn="just" marL="0" indent="0" lvl="0">
              <a:lnSpc>
                <a:spcPts val="2509"/>
              </a:lnSpc>
            </a:pPr>
            <a:r>
              <a:rPr lang="en-US" sz="2301">
                <a:solidFill>
                  <a:srgbClr val="18899D"/>
                </a:solidFill>
                <a:latin typeface="TS Qamus"/>
                <a:ea typeface="TS Qamus"/>
                <a:cs typeface="TS Qamus"/>
                <a:sym typeface="TS Qamus"/>
              </a:rPr>
              <a:t>Generate and download detailed financial reports in multiple formats:</a:t>
            </a:r>
          </a:p>
          <a:p>
            <a:pPr algn="just" marL="0" indent="0" lvl="0">
              <a:lnSpc>
                <a:spcPts val="2509"/>
              </a:lnSpc>
            </a:pPr>
            <a:r>
              <a:rPr lang="en-US" sz="2301">
                <a:solidFill>
                  <a:srgbClr val="18899D"/>
                </a:solidFill>
                <a:latin typeface="TS Qamus"/>
                <a:ea typeface="TS Qamus"/>
                <a:cs typeface="TS Qamus"/>
                <a:sym typeface="TS Qamus"/>
              </a:rPr>
              <a:t>• Export formats: PDF, Excel, and CSV for maximum flexibility</a:t>
            </a:r>
          </a:p>
          <a:p>
            <a:pPr algn="just" marL="0" indent="0" lvl="0">
              <a:lnSpc>
                <a:spcPts val="2509"/>
              </a:lnSpc>
            </a:pPr>
            <a:r>
              <a:rPr lang="en-US" sz="2301">
                <a:solidFill>
                  <a:srgbClr val="18899D"/>
                </a:solidFill>
                <a:latin typeface="TS Qamus"/>
                <a:ea typeface="TS Qamus"/>
                <a:cs typeface="TS Qamus"/>
                <a:sym typeface="TS Qamus"/>
              </a:rPr>
              <a:t>• Available reports: Expense Report, Budget Report, and Annual Summary</a:t>
            </a:r>
          </a:p>
          <a:p>
            <a:pPr algn="just" marL="0" indent="0" lvl="0">
              <a:lnSpc>
                <a:spcPts val="2509"/>
              </a:lnSpc>
            </a:pPr>
            <a:r>
              <a:rPr lang="en-US" sz="2301">
                <a:solidFill>
                  <a:srgbClr val="18899D"/>
                </a:solidFill>
                <a:latin typeface="TS Qamus"/>
                <a:ea typeface="TS Qamus"/>
                <a:cs typeface="TS Qamus"/>
                <a:sym typeface="TS Qamus"/>
              </a:rPr>
              <a:t>• Convenient downloads for easy sharing or record-keeping</a:t>
            </a:r>
          </a:p>
        </p:txBody>
      </p:sp>
      <p:sp>
        <p:nvSpPr>
          <p:cNvPr name="TextBox 10" id="10"/>
          <p:cNvSpPr txBox="true"/>
          <p:nvPr/>
        </p:nvSpPr>
        <p:spPr>
          <a:xfrm rot="0">
            <a:off x="6818762" y="6056226"/>
            <a:ext cx="9182488" cy="1908583"/>
          </a:xfrm>
          <a:prstGeom prst="rect">
            <a:avLst/>
          </a:prstGeom>
        </p:spPr>
        <p:txBody>
          <a:bodyPr anchor="t" rtlCol="false" tIns="0" lIns="0" bIns="0" rIns="0">
            <a:spAutoFit/>
          </a:bodyPr>
          <a:lstStyle/>
          <a:p>
            <a:pPr algn="just" marL="0" indent="0" lvl="0">
              <a:lnSpc>
                <a:spcPts val="2509"/>
              </a:lnSpc>
            </a:pPr>
            <a:r>
              <a:rPr lang="en-US" sz="2301">
                <a:solidFill>
                  <a:srgbClr val="18899D"/>
                </a:solidFill>
                <a:latin typeface="TS Qamus"/>
                <a:ea typeface="TS Qamus"/>
                <a:cs typeface="TS Qamus"/>
                <a:sym typeface="TS Qamus"/>
              </a:rPr>
              <a:t>Key capabilities of the export system:</a:t>
            </a:r>
          </a:p>
          <a:p>
            <a:pPr algn="just" marL="0" indent="0" lvl="0">
              <a:lnSpc>
                <a:spcPts val="2509"/>
              </a:lnSpc>
            </a:pPr>
            <a:r>
              <a:rPr lang="en-US" sz="2301">
                <a:solidFill>
                  <a:srgbClr val="18899D"/>
                </a:solidFill>
                <a:latin typeface="TS Qamus"/>
                <a:ea typeface="TS Qamus"/>
                <a:cs typeface="TS Qamus"/>
                <a:sym typeface="TS Qamus"/>
              </a:rPr>
              <a:t>• One-click report generation across all financial categories</a:t>
            </a:r>
          </a:p>
          <a:p>
            <a:pPr algn="just" marL="0" indent="0" lvl="0">
              <a:lnSpc>
                <a:spcPts val="2509"/>
              </a:lnSpc>
            </a:pPr>
            <a:r>
              <a:rPr lang="en-US" sz="2301">
                <a:solidFill>
                  <a:srgbClr val="18899D"/>
                </a:solidFill>
                <a:latin typeface="TS Qamus"/>
                <a:ea typeface="TS Qamus"/>
                <a:cs typeface="TS Qamus"/>
                <a:sym typeface="TS Qamus"/>
              </a:rPr>
              <a:t>• Customizable date ranges for targeted reporting</a:t>
            </a:r>
          </a:p>
          <a:p>
            <a:pPr algn="just" marL="0" indent="0" lvl="0">
              <a:lnSpc>
                <a:spcPts val="2509"/>
              </a:lnSpc>
            </a:pPr>
            <a:r>
              <a:rPr lang="en-US" sz="2301">
                <a:solidFill>
                  <a:srgbClr val="18899D"/>
                </a:solidFill>
                <a:latin typeface="TS Qamus"/>
                <a:ea typeface="TS Qamus"/>
                <a:cs typeface="TS Qamus"/>
                <a:sym typeface="TS Qamus"/>
              </a:rPr>
              <a:t>• Professional formatting suitable for accountants and advisors</a:t>
            </a:r>
          </a:p>
          <a:p>
            <a:pPr algn="just" marL="0" indent="0" lvl="0">
              <a:lnSpc>
                <a:spcPts val="2509"/>
              </a:lnSpc>
            </a:pPr>
            <a:r>
              <a:rPr lang="en-US" sz="2301">
                <a:solidFill>
                  <a:srgbClr val="18899D"/>
                </a:solidFill>
                <a:latin typeface="TS Qamus"/>
                <a:ea typeface="TS Qamus"/>
                <a:cs typeface="TS Qamus"/>
                <a:sym typeface="TS Qamus"/>
              </a:rPr>
              <a:t>• Instant download with organized file naming conventions</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1106138"/>
            <a:ext cx="16230600" cy="8074724"/>
          </a:xfrm>
          <a:custGeom>
            <a:avLst/>
            <a:gdLst/>
            <a:ahLst/>
            <a:cxnLst/>
            <a:rect r="r" b="b" t="t" l="l"/>
            <a:pathLst>
              <a:path h="8074724" w="16230600">
                <a:moveTo>
                  <a:pt x="0" y="0"/>
                </a:moveTo>
                <a:lnTo>
                  <a:pt x="16230600" y="0"/>
                </a:lnTo>
                <a:lnTo>
                  <a:pt x="16230600" y="8074724"/>
                </a:lnTo>
                <a:lnTo>
                  <a:pt x="0" y="8074724"/>
                </a:lnTo>
                <a:lnTo>
                  <a:pt x="0" y="0"/>
                </a:lnTo>
                <a:close/>
              </a:path>
            </a:pathLst>
          </a:custGeom>
          <a:blipFill>
            <a:blip r:embed="rId4"/>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492625" cy="44926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42050" t="0" r="-42050" b="0"/>
              </a:stretch>
            </a:blipFill>
          </p:spPr>
        </p:sp>
      </p:grpSp>
      <p:sp>
        <p:nvSpPr>
          <p:cNvPr name="TextBox 8" id="8"/>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FAMILY FINANCE</a:t>
            </a:r>
          </a:p>
          <a:p>
            <a:pPr algn="ctr" marL="0" indent="0" lvl="0">
              <a:lnSpc>
                <a:spcPts val="7909"/>
              </a:lnSpc>
            </a:pPr>
            <a:r>
              <a:rPr lang="en-US" b="true" sz="7255">
                <a:solidFill>
                  <a:srgbClr val="18899D"/>
                </a:solidFill>
                <a:latin typeface="TS Qamus Bold"/>
                <a:ea typeface="TS Qamus Bold"/>
                <a:cs typeface="TS Qamus Bold"/>
                <a:sym typeface="TS Qamus Bold"/>
              </a:rPr>
              <a:t>MANAGEMENT</a:t>
            </a:r>
          </a:p>
        </p:txBody>
      </p:sp>
      <p:sp>
        <p:nvSpPr>
          <p:cNvPr name="TextBox 9" id="9"/>
          <p:cNvSpPr txBox="true"/>
          <p:nvPr/>
        </p:nvSpPr>
        <p:spPr>
          <a:xfrm rot="0">
            <a:off x="6818762" y="3554326"/>
            <a:ext cx="9182488" cy="20827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 Shared wallet balances visible to all family members for full financial transparency</a:t>
            </a:r>
          </a:p>
          <a:p>
            <a:pPr algn="just" marL="0" indent="0" lvl="0">
              <a:lnSpc>
                <a:spcPts val="2723"/>
              </a:lnSpc>
            </a:pPr>
            <a:r>
              <a:rPr lang="en-US" sz="2498">
                <a:solidFill>
                  <a:srgbClr val="18899D"/>
                </a:solidFill>
                <a:latin typeface="TS Qamus"/>
                <a:ea typeface="TS Qamus"/>
                <a:cs typeface="TS Qamus"/>
                <a:sym typeface="TS Qamus"/>
              </a:rPr>
              <a:t>• View total family balance, active members, and shared spending in one central hub</a:t>
            </a:r>
          </a:p>
          <a:p>
            <a:pPr algn="just" marL="0" indent="0" lvl="0">
              <a:lnSpc>
                <a:spcPts val="2723"/>
              </a:lnSpc>
            </a:pPr>
            <a:r>
              <a:rPr lang="en-US" sz="2498">
                <a:solidFill>
                  <a:srgbClr val="18899D"/>
                </a:solidFill>
                <a:latin typeface="TS Qamus"/>
                <a:ea typeface="TS Qamus"/>
                <a:cs typeface="TS Qamus"/>
                <a:sym typeface="TS Qamus"/>
              </a:rPr>
              <a:t>• Collaborative tracking ensures every member stays informed and aligned on finances</a:t>
            </a:r>
          </a:p>
        </p:txBody>
      </p:sp>
      <p:sp>
        <p:nvSpPr>
          <p:cNvPr name="TextBox 10" id="10"/>
          <p:cNvSpPr txBox="true"/>
          <p:nvPr/>
        </p:nvSpPr>
        <p:spPr>
          <a:xfrm rot="0">
            <a:off x="6818762" y="6056226"/>
            <a:ext cx="9182488" cy="20827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 Family budgets set by category to control collective expenses like groceries or utilities</a:t>
            </a:r>
          </a:p>
          <a:p>
            <a:pPr algn="just" marL="0" indent="0" lvl="0">
              <a:lnSpc>
                <a:spcPts val="2723"/>
              </a:lnSpc>
            </a:pPr>
            <a:r>
              <a:rPr lang="en-US" sz="2498">
                <a:solidFill>
                  <a:srgbClr val="18899D"/>
                </a:solidFill>
                <a:latin typeface="TS Qamus"/>
                <a:ea typeface="TS Qamus"/>
                <a:cs typeface="TS Qamus"/>
                <a:sym typeface="TS Qamus"/>
              </a:rPr>
              <a:t>• Add or remove family members easily and manage roles within the shared wallet</a:t>
            </a:r>
          </a:p>
          <a:p>
            <a:pPr algn="just" marL="0" indent="0" lvl="0">
              <a:lnSpc>
                <a:spcPts val="2723"/>
              </a:lnSpc>
            </a:pPr>
            <a:r>
              <a:rPr lang="en-US" sz="2498">
                <a:solidFill>
                  <a:srgbClr val="18899D"/>
                </a:solidFill>
                <a:latin typeface="TS Qamus"/>
                <a:ea typeface="TS Qamus"/>
                <a:cs typeface="TS Qamus"/>
                <a:sym typeface="TS Qamus"/>
              </a:rPr>
              <a:t>• Real-time updates keep all members synchronized on spending and budget status</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68596" y="1028700"/>
            <a:ext cx="15150807" cy="8229600"/>
          </a:xfrm>
          <a:custGeom>
            <a:avLst/>
            <a:gdLst/>
            <a:ahLst/>
            <a:cxnLst/>
            <a:rect r="r" b="b" t="t" l="l"/>
            <a:pathLst>
              <a:path h="8229600" w="15150807">
                <a:moveTo>
                  <a:pt x="0" y="0"/>
                </a:moveTo>
                <a:lnTo>
                  <a:pt x="15150808" y="0"/>
                </a:lnTo>
                <a:lnTo>
                  <a:pt x="15150808" y="8229600"/>
                </a:lnTo>
                <a:lnTo>
                  <a:pt x="0" y="8229600"/>
                </a:lnTo>
                <a:lnTo>
                  <a:pt x="0" y="0"/>
                </a:lnTo>
                <a:close/>
              </a:path>
            </a:pathLst>
          </a:custGeom>
          <a:blipFill>
            <a:blip r:embed="rId4"/>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936111" y="1790793"/>
            <a:ext cx="10376622" cy="948624"/>
          </a:xfrm>
          <a:prstGeom prst="rect">
            <a:avLst/>
          </a:prstGeom>
        </p:spPr>
        <p:txBody>
          <a:bodyPr anchor="t" rtlCol="false" tIns="0" lIns="0" bIns="0" rIns="0">
            <a:spAutoFit/>
          </a:bodyPr>
          <a:lstStyle/>
          <a:p>
            <a:pPr algn="ctr" marL="0" indent="0" lvl="0">
              <a:lnSpc>
                <a:spcPts val="7204"/>
              </a:lnSpc>
            </a:pPr>
            <a:r>
              <a:rPr lang="en-US" b="true" sz="6609">
                <a:solidFill>
                  <a:srgbClr val="18899D"/>
                </a:solidFill>
                <a:latin typeface="TS Qamus Bold"/>
                <a:ea typeface="TS Qamus Bold"/>
                <a:cs typeface="TS Qamus Bold"/>
                <a:sym typeface="TS Qamus Bold"/>
              </a:rPr>
              <a:t>FAMILY WALLET SETUP</a:t>
            </a:r>
          </a:p>
        </p:txBody>
      </p:sp>
      <p:grpSp>
        <p:nvGrpSpPr>
          <p:cNvPr name="Group 4" id="4"/>
          <p:cNvGrpSpPr/>
          <p:nvPr/>
        </p:nvGrpSpPr>
        <p:grpSpPr>
          <a:xfrm rot="0">
            <a:off x="2247595" y="3544801"/>
            <a:ext cx="13753654" cy="4064600"/>
            <a:chOff x="0" y="0"/>
            <a:chExt cx="1222804" cy="361374"/>
          </a:xfrm>
        </p:grpSpPr>
        <p:sp>
          <p:nvSpPr>
            <p:cNvPr name="Freeform 5" id="5"/>
            <p:cNvSpPr/>
            <p:nvPr/>
          </p:nvSpPr>
          <p:spPr>
            <a:xfrm flipH="false" flipV="false" rot="0">
              <a:off x="0" y="0"/>
              <a:ext cx="1222804" cy="361374"/>
            </a:xfrm>
            <a:custGeom>
              <a:avLst/>
              <a:gdLst/>
              <a:ahLst/>
              <a:cxnLst/>
              <a:rect r="r" b="b" t="t" l="l"/>
              <a:pathLst>
                <a:path h="361374" w="1222804">
                  <a:moveTo>
                    <a:pt x="10994" y="0"/>
                  </a:moveTo>
                  <a:lnTo>
                    <a:pt x="1211810" y="0"/>
                  </a:lnTo>
                  <a:cubicBezTo>
                    <a:pt x="1214726" y="0"/>
                    <a:pt x="1217522" y="1158"/>
                    <a:pt x="1219584" y="3220"/>
                  </a:cubicBezTo>
                  <a:cubicBezTo>
                    <a:pt x="1221646" y="5282"/>
                    <a:pt x="1222804" y="8078"/>
                    <a:pt x="1222804" y="10994"/>
                  </a:cubicBezTo>
                  <a:lnTo>
                    <a:pt x="1222804" y="350380"/>
                  </a:lnTo>
                  <a:cubicBezTo>
                    <a:pt x="1222804" y="353295"/>
                    <a:pt x="1221646" y="356092"/>
                    <a:pt x="1219584" y="358154"/>
                  </a:cubicBezTo>
                  <a:cubicBezTo>
                    <a:pt x="1217522" y="360215"/>
                    <a:pt x="1214726" y="361374"/>
                    <a:pt x="1211810" y="361374"/>
                  </a:cubicBezTo>
                  <a:lnTo>
                    <a:pt x="10994" y="361374"/>
                  </a:lnTo>
                  <a:cubicBezTo>
                    <a:pt x="8078" y="361374"/>
                    <a:pt x="5282" y="360215"/>
                    <a:pt x="3220" y="358154"/>
                  </a:cubicBezTo>
                  <a:cubicBezTo>
                    <a:pt x="1158" y="356092"/>
                    <a:pt x="0" y="353295"/>
                    <a:pt x="0" y="350380"/>
                  </a:cubicBezTo>
                  <a:lnTo>
                    <a:pt x="0" y="10994"/>
                  </a:lnTo>
                  <a:cubicBezTo>
                    <a:pt x="0" y="8078"/>
                    <a:pt x="1158" y="5282"/>
                    <a:pt x="3220" y="3220"/>
                  </a:cubicBezTo>
                  <a:cubicBezTo>
                    <a:pt x="5282" y="1158"/>
                    <a:pt x="8078" y="0"/>
                    <a:pt x="10994" y="0"/>
                  </a:cubicBezTo>
                  <a:close/>
                </a:path>
              </a:pathLst>
            </a:custGeom>
            <a:solidFill>
              <a:srgbClr val="18899D"/>
            </a:solidFill>
          </p:spPr>
        </p:sp>
        <p:sp>
          <p:nvSpPr>
            <p:cNvPr name="TextBox 6" id="6"/>
            <p:cNvSpPr txBox="true"/>
            <p:nvPr/>
          </p:nvSpPr>
          <p:spPr>
            <a:xfrm>
              <a:off x="0" y="-38100"/>
              <a:ext cx="1222804" cy="39947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7" id="7"/>
          <p:cNvSpPr txBox="true"/>
          <p:nvPr/>
        </p:nvSpPr>
        <p:spPr>
          <a:xfrm rot="0">
            <a:off x="2631463" y="4026113"/>
            <a:ext cx="13025075" cy="3111475"/>
          </a:xfrm>
          <a:prstGeom prst="rect">
            <a:avLst/>
          </a:prstGeom>
        </p:spPr>
        <p:txBody>
          <a:bodyPr anchor="t" rtlCol="false" tIns="0" lIns="0" bIns="0" rIns="0">
            <a:spAutoFit/>
          </a:bodyPr>
          <a:lstStyle/>
          <a:p>
            <a:pPr algn="just" marL="0" indent="0" lvl="0">
              <a:lnSpc>
                <a:spcPts val="2723"/>
              </a:lnSpc>
            </a:pPr>
            <a:r>
              <a:rPr lang="en-US" sz="2498">
                <a:solidFill>
                  <a:srgbClr val="FFFFFF"/>
                </a:solidFill>
                <a:latin typeface="TS Qamus"/>
                <a:ea typeface="TS Qamus"/>
                <a:cs typeface="TS Qamus"/>
                <a:sym typeface="TS Qamus"/>
              </a:rPr>
              <a:t>Create and manage shared family wallets to centralize household finances in one place.</a:t>
            </a:r>
          </a:p>
          <a:p>
            <a:pPr algn="just" marL="0" indent="0" lvl="0">
              <a:lnSpc>
                <a:spcPts val="2723"/>
              </a:lnSpc>
            </a:pPr>
            <a:r>
              <a:rPr lang="en-US" sz="2498">
                <a:solidFill>
                  <a:srgbClr val="FFFFFF"/>
                </a:solidFill>
                <a:latin typeface="TS Qamus"/>
                <a:ea typeface="TS Qamus"/>
                <a:cs typeface="TS Qamus"/>
                <a:sym typeface="TS Qamus"/>
              </a:rPr>
              <a:t>• Define family name, shared balance, and member roles for collaborative tracking</a:t>
            </a:r>
          </a:p>
          <a:p>
            <a:pPr algn="just" marL="0" indent="0" lvl="0">
              <a:lnSpc>
                <a:spcPts val="2723"/>
              </a:lnSpc>
            </a:pPr>
            <a:r>
              <a:rPr lang="en-US" sz="2498">
                <a:solidFill>
                  <a:srgbClr val="FFFFFF"/>
                </a:solidFill>
                <a:latin typeface="TS Qamus"/>
                <a:ea typeface="TS Qamus"/>
                <a:cs typeface="TS Qamus"/>
                <a:sym typeface="TS Qamus"/>
              </a:rPr>
              <a:t>• Add or remove members easily to keep the family group up to date</a:t>
            </a:r>
          </a:p>
          <a:p>
            <a:pPr algn="just" marL="0" indent="0" lvl="0">
              <a:lnSpc>
                <a:spcPts val="2723"/>
              </a:lnSpc>
            </a:pPr>
            <a:r>
              <a:rPr lang="en-US" sz="2498">
                <a:solidFill>
                  <a:srgbClr val="FFFFFF"/>
                </a:solidFill>
                <a:latin typeface="TS Qamus"/>
                <a:ea typeface="TS Qamus"/>
                <a:cs typeface="TS Qamus"/>
                <a:sym typeface="TS Qamus"/>
              </a:rPr>
              <a:t>• Shared wallet provides a unified view of collective balances and contributions</a:t>
            </a:r>
          </a:p>
          <a:p>
            <a:pPr algn="just" marL="0" indent="0" lvl="0">
              <a:lnSpc>
                <a:spcPts val="2723"/>
              </a:lnSpc>
            </a:pPr>
            <a:r>
              <a:rPr lang="en-US" sz="2498">
                <a:solidFill>
                  <a:srgbClr val="FFFFFF"/>
                </a:solidFill>
                <a:latin typeface="TS Qamus"/>
                <a:ea typeface="TS Qamus"/>
                <a:cs typeface="TS Qamus"/>
                <a:sym typeface="TS Qamus"/>
              </a:rPr>
              <a:t>• Enables transparent money management across all family members</a:t>
            </a:r>
          </a:p>
          <a:p>
            <a:pPr algn="just" marL="0" indent="0" lvl="0">
              <a:lnSpc>
                <a:spcPts val="2723"/>
              </a:lnSpc>
            </a:pPr>
            <a:r>
              <a:rPr lang="en-US" sz="2498">
                <a:solidFill>
                  <a:srgbClr val="FFFFFF"/>
                </a:solidFill>
                <a:latin typeface="TS Qamus"/>
                <a:ea typeface="TS Qamus"/>
                <a:cs typeface="TS Qamus"/>
                <a:sym typeface="TS Qamus"/>
              </a:rPr>
              <a:t>• Central hub for coordinating family income, expenses, and budgets seamlessly</a:t>
            </a:r>
          </a:p>
        </p:txBody>
      </p:sp>
      <p:sp>
        <p:nvSpPr>
          <p:cNvPr name="Freeform 8" id="8"/>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0208" y="3544801"/>
            <a:ext cx="4492625" cy="44926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10722" r="0" b="-10722"/>
              </a:stretch>
            </a:blipFill>
          </p:spPr>
        </p:sp>
      </p:grpSp>
      <p:sp>
        <p:nvSpPr>
          <p:cNvPr name="TextBox 8" id="8"/>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FAMILY BUDGET</a:t>
            </a:r>
          </a:p>
          <a:p>
            <a:pPr algn="ctr" marL="0" indent="0" lvl="0">
              <a:lnSpc>
                <a:spcPts val="7909"/>
              </a:lnSpc>
            </a:pPr>
            <a:r>
              <a:rPr lang="en-US" b="true" sz="7255">
                <a:solidFill>
                  <a:srgbClr val="18899D"/>
                </a:solidFill>
                <a:latin typeface="TS Qamus Bold"/>
                <a:ea typeface="TS Qamus Bold"/>
                <a:cs typeface="TS Qamus Bold"/>
                <a:sym typeface="TS Qamus Bold"/>
              </a:rPr>
              <a:t>MANAGEMENT</a:t>
            </a:r>
          </a:p>
        </p:txBody>
      </p:sp>
      <p:sp>
        <p:nvSpPr>
          <p:cNvPr name="TextBox 9" id="9"/>
          <p:cNvSpPr txBox="true"/>
          <p:nvPr/>
        </p:nvSpPr>
        <p:spPr>
          <a:xfrm rot="0">
            <a:off x="6818762" y="3544801"/>
            <a:ext cx="9182488" cy="2029849"/>
          </a:xfrm>
          <a:prstGeom prst="rect">
            <a:avLst/>
          </a:prstGeom>
        </p:spPr>
        <p:txBody>
          <a:bodyPr anchor="t" rtlCol="false" tIns="0" lIns="0" bIns="0" rIns="0">
            <a:spAutoFit/>
          </a:bodyPr>
          <a:lstStyle/>
          <a:p>
            <a:pPr algn="just" marL="0" indent="0" lvl="0">
              <a:lnSpc>
                <a:spcPts val="2309"/>
              </a:lnSpc>
            </a:pPr>
            <a:r>
              <a:rPr lang="en-US" sz="2118">
                <a:solidFill>
                  <a:srgbClr val="18899D"/>
                </a:solidFill>
                <a:latin typeface="TS Qamus"/>
                <a:ea typeface="TS Qamus"/>
                <a:cs typeface="TS Qamus"/>
                <a:sym typeface="TS Qamus"/>
              </a:rPr>
              <a:t>Create and manage budgets for your family group to keep collective spending on track:</a:t>
            </a:r>
          </a:p>
          <a:p>
            <a:pPr algn="just" marL="0" indent="0" lvl="0">
              <a:lnSpc>
                <a:spcPts val="2309"/>
              </a:lnSpc>
            </a:pPr>
            <a:r>
              <a:rPr lang="en-US" sz="2118">
                <a:solidFill>
                  <a:srgbClr val="18899D"/>
                </a:solidFill>
                <a:latin typeface="TS Qamus"/>
                <a:ea typeface="TS Qamus"/>
                <a:cs typeface="TS Qamus"/>
                <a:sym typeface="TS Qamus"/>
              </a:rPr>
              <a:t>• Create family budgets with names, amounts, and spending categories</a:t>
            </a:r>
          </a:p>
          <a:p>
            <a:pPr algn="just" marL="0" indent="0" lvl="0">
              <a:lnSpc>
                <a:spcPts val="2309"/>
              </a:lnSpc>
            </a:pPr>
            <a:r>
              <a:rPr lang="en-US" sz="2118">
                <a:solidFill>
                  <a:srgbClr val="18899D"/>
                </a:solidFill>
                <a:latin typeface="TS Qamus"/>
                <a:ea typeface="TS Qamus"/>
                <a:cs typeface="TS Qamus"/>
                <a:sym typeface="TS Qamus"/>
              </a:rPr>
              <a:t>• Monitor budget utilization across all family members in real time</a:t>
            </a:r>
          </a:p>
          <a:p>
            <a:pPr algn="just" marL="0" indent="0" lvl="0">
              <a:lnSpc>
                <a:spcPts val="2309"/>
              </a:lnSpc>
            </a:pPr>
            <a:r>
              <a:rPr lang="en-US" sz="2118">
                <a:solidFill>
                  <a:srgbClr val="18899D"/>
                </a:solidFill>
                <a:latin typeface="TS Qamus"/>
                <a:ea typeface="TS Qamus"/>
                <a:cs typeface="TS Qamus"/>
                <a:sym typeface="TS Qamus"/>
              </a:rPr>
              <a:t>• Control collective expenses like groceries, utilities, and entertainment</a:t>
            </a:r>
          </a:p>
        </p:txBody>
      </p:sp>
      <p:sp>
        <p:nvSpPr>
          <p:cNvPr name="TextBox 10" id="10"/>
          <p:cNvSpPr txBox="true"/>
          <p:nvPr/>
        </p:nvSpPr>
        <p:spPr>
          <a:xfrm rot="0">
            <a:off x="6818762" y="6046701"/>
            <a:ext cx="9182488" cy="1172599"/>
          </a:xfrm>
          <a:prstGeom prst="rect">
            <a:avLst/>
          </a:prstGeom>
        </p:spPr>
        <p:txBody>
          <a:bodyPr anchor="t" rtlCol="false" tIns="0" lIns="0" bIns="0" rIns="0">
            <a:spAutoFit/>
          </a:bodyPr>
          <a:lstStyle/>
          <a:p>
            <a:pPr algn="just" marL="0" indent="0" lvl="0">
              <a:lnSpc>
                <a:spcPts val="2309"/>
              </a:lnSpc>
            </a:pPr>
            <a:r>
              <a:rPr lang="en-US" sz="2118">
                <a:solidFill>
                  <a:srgbClr val="18899D"/>
                </a:solidFill>
                <a:latin typeface="TS Qamus"/>
                <a:ea typeface="TS Qamus"/>
                <a:cs typeface="TS Qamus"/>
                <a:sym typeface="TS Qamus"/>
              </a:rPr>
              <a:t>• Set spending limits per category to prevent budget overruns</a:t>
            </a:r>
          </a:p>
          <a:p>
            <a:pPr algn="just" marL="0" indent="0" lvl="0">
              <a:lnSpc>
                <a:spcPts val="2309"/>
              </a:lnSpc>
            </a:pPr>
            <a:r>
              <a:rPr lang="en-US" sz="2118">
                <a:solidFill>
                  <a:srgbClr val="18899D"/>
                </a:solidFill>
                <a:latin typeface="TS Qamus"/>
                <a:ea typeface="TS Qamus"/>
                <a:cs typeface="TS Qamus"/>
                <a:sym typeface="TS Qamus"/>
              </a:rPr>
              <a:t>• Receive alerts when family budgets are nearing their limits</a:t>
            </a:r>
          </a:p>
          <a:p>
            <a:pPr algn="just" marL="0" indent="0" lvl="0">
              <a:lnSpc>
                <a:spcPts val="2309"/>
              </a:lnSpc>
            </a:pPr>
            <a:r>
              <a:rPr lang="en-US" sz="2118">
                <a:solidFill>
                  <a:srgbClr val="18899D"/>
                </a:solidFill>
                <a:latin typeface="TS Qamus"/>
                <a:ea typeface="TS Qamus"/>
                <a:cs typeface="TS Qamus"/>
                <a:sym typeface="TS Qamus"/>
              </a:rPr>
              <a:t>• Transparent budget visibility for all family members ensures accountability and smarter financial decisions together</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5755777" y="1028700"/>
            <a:ext cx="6776445" cy="8229600"/>
          </a:xfrm>
          <a:custGeom>
            <a:avLst/>
            <a:gdLst/>
            <a:ahLst/>
            <a:cxnLst/>
            <a:rect r="r" b="b" t="t" l="l"/>
            <a:pathLst>
              <a:path h="8229600" w="6776445">
                <a:moveTo>
                  <a:pt x="0" y="0"/>
                </a:moveTo>
                <a:lnTo>
                  <a:pt x="6776446" y="0"/>
                </a:lnTo>
                <a:lnTo>
                  <a:pt x="6776446" y="8229600"/>
                </a:lnTo>
                <a:lnTo>
                  <a:pt x="0" y="8229600"/>
                </a:lnTo>
                <a:lnTo>
                  <a:pt x="0" y="0"/>
                </a:lnTo>
                <a:close/>
              </a:path>
            </a:pathLst>
          </a:custGeom>
          <a:blipFill>
            <a:blip r:embed="rId4"/>
            <a:stretch>
              <a:fillRect l="0" t="0" r="0" b="0"/>
            </a:stretch>
          </a:blipFill>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4684799"/>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585969" y="1082294"/>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296216" y="4694324"/>
            <a:ext cx="5583840" cy="34543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Modern Dashboard Design</a:t>
            </a:r>
          </a:p>
          <a:p>
            <a:pPr algn="just" marL="0" indent="0" lvl="0">
              <a:lnSpc>
                <a:spcPts val="2723"/>
              </a:lnSpc>
            </a:pPr>
            <a:r>
              <a:rPr lang="en-US" sz="2498">
                <a:solidFill>
                  <a:srgbClr val="18899D"/>
                </a:solidFill>
                <a:latin typeface="TS Qamus"/>
                <a:ea typeface="TS Qamus"/>
                <a:cs typeface="TS Qamus"/>
                <a:sym typeface="TS Qamus"/>
              </a:rPr>
              <a:t>Intuitive dashboard cards display key metrics at a glance — total income, expenses, savings, and budget status. Charts and graphs use purple/blue accent colors for clear visual hierarchy. Clean forms and modals ensure effortless data entry across all features.</a:t>
            </a:r>
          </a:p>
        </p:txBody>
      </p:sp>
      <p:sp>
        <p:nvSpPr>
          <p:cNvPr name="TextBox 7" id="7"/>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USER INTERFACE HIGHLIGHTS</a:t>
            </a:r>
          </a:p>
        </p:txBody>
      </p:sp>
      <p:sp>
        <p:nvSpPr>
          <p:cNvPr name="TextBox 8" id="8"/>
          <p:cNvSpPr txBox="true"/>
          <p:nvPr/>
        </p:nvSpPr>
        <p:spPr>
          <a:xfrm rot="0">
            <a:off x="9407945" y="4694324"/>
            <a:ext cx="5583840" cy="34543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Responsive &amp; Accessible UI</a:t>
            </a:r>
          </a:p>
          <a:p>
            <a:pPr algn="just" marL="0" indent="0" lvl="0">
              <a:lnSpc>
                <a:spcPts val="2723"/>
              </a:lnSpc>
            </a:pPr>
            <a:r>
              <a:rPr lang="en-US" sz="2498">
                <a:solidFill>
                  <a:srgbClr val="18899D"/>
                </a:solidFill>
                <a:latin typeface="TS Qamus"/>
                <a:ea typeface="TS Qamus"/>
                <a:cs typeface="TS Qamus"/>
                <a:sym typeface="TS Qamus"/>
              </a:rPr>
              <a:t>Built with React.js for a seamless single-page experience on desktops, tablets, and mobile devices. Consistent component design, smooth navigation, and adaptive layouts ensure every user enjoys a polished, professional interface on any screen size.</a:t>
            </a:r>
          </a:p>
        </p:txBody>
      </p:sp>
      <p:sp>
        <p:nvSpPr>
          <p:cNvPr name="TextBox 9" id="9"/>
          <p:cNvSpPr txBox="true"/>
          <p:nvPr/>
        </p:nvSpPr>
        <p:spPr>
          <a:xfrm rot="0">
            <a:off x="5218565" y="3601951"/>
            <a:ext cx="1739141" cy="1042905"/>
          </a:xfrm>
          <a:prstGeom prst="rect">
            <a:avLst/>
          </a:prstGeom>
        </p:spPr>
        <p:txBody>
          <a:bodyPr anchor="t" rtlCol="false" tIns="0" lIns="0" bIns="0" rIns="0">
            <a:spAutoFit/>
          </a:bodyPr>
          <a:lstStyle/>
          <a:p>
            <a:pPr algn="ctr" marL="0" indent="0" lvl="0">
              <a:lnSpc>
                <a:spcPts val="7909"/>
              </a:lnSpc>
            </a:pPr>
          </a:p>
        </p:txBody>
      </p:sp>
      <p:sp>
        <p:nvSpPr>
          <p:cNvPr name="TextBox 10" id="10"/>
          <p:cNvSpPr txBox="true"/>
          <p:nvPr/>
        </p:nvSpPr>
        <p:spPr>
          <a:xfrm rot="0">
            <a:off x="11330294" y="3601951"/>
            <a:ext cx="1739141" cy="1042905"/>
          </a:xfrm>
          <a:prstGeom prst="rect">
            <a:avLst/>
          </a:prstGeom>
        </p:spPr>
        <p:txBody>
          <a:bodyPr anchor="t" rtlCol="false" tIns="0" lIns="0" bIns="0" rIns="0">
            <a:spAutoFit/>
          </a:bodyPr>
          <a:lstStyle/>
          <a:p>
            <a:pPr algn="ctr" marL="0" indent="0" lvl="0">
              <a:lnSpc>
                <a:spcPts val="7909"/>
              </a:lnSpc>
            </a:pP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4684799"/>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585969" y="1082294"/>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296216" y="4684799"/>
            <a:ext cx="5583840" cy="3066977"/>
          </a:xfrm>
          <a:prstGeom prst="rect">
            <a:avLst/>
          </a:prstGeom>
        </p:spPr>
        <p:txBody>
          <a:bodyPr anchor="t" rtlCol="false" tIns="0" lIns="0" bIns="0" rIns="0">
            <a:spAutoFit/>
          </a:bodyPr>
          <a:lstStyle/>
          <a:p>
            <a:pPr algn="just" marL="0" indent="0" lvl="0">
              <a:lnSpc>
                <a:spcPts val="2223"/>
              </a:lnSpc>
            </a:pPr>
            <a:r>
              <a:rPr lang="en-US" sz="2040">
                <a:solidFill>
                  <a:srgbClr val="18899D"/>
                </a:solidFill>
                <a:latin typeface="TS Qamus"/>
                <a:ea typeface="TS Qamus"/>
                <a:cs typeface="TS Qamus"/>
                <a:sym typeface="TS Qamus"/>
              </a:rPr>
              <a:t>Express.js &amp; RESTful APIs</a:t>
            </a:r>
          </a:p>
          <a:p>
            <a:pPr algn="just" marL="0" indent="0" lvl="0">
              <a:lnSpc>
                <a:spcPts val="2223"/>
              </a:lnSpc>
            </a:pPr>
            <a:r>
              <a:rPr lang="en-US" sz="2040">
                <a:solidFill>
                  <a:srgbClr val="18899D"/>
                </a:solidFill>
                <a:latin typeface="TS Qamus"/>
                <a:ea typeface="TS Qamus"/>
                <a:cs typeface="TS Qamus"/>
                <a:sym typeface="TS Qamus"/>
              </a:rPr>
              <a:t>A robust Express.js server powers the backend with well-structured RESTful API endpoints. Each resource — income, expenses, budgets, goals, and accounts — is served through dedicated routes with middleware for authentication, validation, and error handling. The modular architecture ensures scalability and maintainability across all financial operations.</a:t>
            </a:r>
          </a:p>
        </p:txBody>
      </p:sp>
      <p:sp>
        <p:nvSpPr>
          <p:cNvPr name="TextBox 7" id="7"/>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BACKEND ARCHITECTURE</a:t>
            </a:r>
          </a:p>
        </p:txBody>
      </p:sp>
      <p:sp>
        <p:nvSpPr>
          <p:cNvPr name="TextBox 8" id="8"/>
          <p:cNvSpPr txBox="true"/>
          <p:nvPr/>
        </p:nvSpPr>
        <p:spPr>
          <a:xfrm rot="0">
            <a:off x="9407945" y="4684799"/>
            <a:ext cx="5583840" cy="3343202"/>
          </a:xfrm>
          <a:prstGeom prst="rect">
            <a:avLst/>
          </a:prstGeom>
        </p:spPr>
        <p:txBody>
          <a:bodyPr anchor="t" rtlCol="false" tIns="0" lIns="0" bIns="0" rIns="0">
            <a:spAutoFit/>
          </a:bodyPr>
          <a:lstStyle/>
          <a:p>
            <a:pPr algn="just" marL="0" indent="0" lvl="0">
              <a:lnSpc>
                <a:spcPts val="2223"/>
              </a:lnSpc>
            </a:pPr>
            <a:r>
              <a:rPr lang="en-US" sz="2040">
                <a:solidFill>
                  <a:srgbClr val="18899D"/>
                </a:solidFill>
                <a:latin typeface="TS Qamus"/>
                <a:ea typeface="TS Qamus"/>
                <a:cs typeface="TS Qamus"/>
                <a:sym typeface="TS Qamus"/>
              </a:rPr>
              <a:t>MongoDB &amp; Node.js Runtime</a:t>
            </a:r>
          </a:p>
          <a:p>
            <a:pPr algn="just" marL="0" indent="0" lvl="0">
              <a:lnSpc>
                <a:spcPts val="2223"/>
              </a:lnSpc>
            </a:pPr>
            <a:r>
              <a:rPr lang="en-US" sz="2040">
                <a:solidFill>
                  <a:srgbClr val="18899D"/>
                </a:solidFill>
                <a:latin typeface="TS Qamus"/>
                <a:ea typeface="TS Qamus"/>
                <a:cs typeface="TS Qamus"/>
                <a:sym typeface="TS Qamus"/>
              </a:rPr>
              <a:t>MongoDB provides flexible, document-based storage ideal for varied financial data structures. Schemas are designed for fast querying and aggregation across transactions, budgets, and goals. Node.js drives the server runtime with an asynchronous, event-driven model — enabling efficient handling of concurrent requests, scheduled recurring transactions, and real-time notifications without blocking operations.</a:t>
            </a:r>
          </a:p>
        </p:txBody>
      </p:sp>
      <p:sp>
        <p:nvSpPr>
          <p:cNvPr name="TextBox 9" id="9"/>
          <p:cNvSpPr txBox="true"/>
          <p:nvPr/>
        </p:nvSpPr>
        <p:spPr>
          <a:xfrm rot="0">
            <a:off x="5218565" y="3601951"/>
            <a:ext cx="1739141" cy="1042905"/>
          </a:xfrm>
          <a:prstGeom prst="rect">
            <a:avLst/>
          </a:prstGeom>
        </p:spPr>
        <p:txBody>
          <a:bodyPr anchor="t" rtlCol="false" tIns="0" lIns="0" bIns="0" rIns="0">
            <a:spAutoFit/>
          </a:bodyPr>
          <a:lstStyle/>
          <a:p>
            <a:pPr algn="ctr" marL="0" indent="0" lvl="0">
              <a:lnSpc>
                <a:spcPts val="7909"/>
              </a:lnSpc>
            </a:pPr>
          </a:p>
        </p:txBody>
      </p:sp>
      <p:sp>
        <p:nvSpPr>
          <p:cNvPr name="TextBox 10" id="10"/>
          <p:cNvSpPr txBox="true"/>
          <p:nvPr/>
        </p:nvSpPr>
        <p:spPr>
          <a:xfrm rot="0">
            <a:off x="11330294" y="3601951"/>
            <a:ext cx="1739141" cy="1042905"/>
          </a:xfrm>
          <a:prstGeom prst="rect">
            <a:avLst/>
          </a:prstGeom>
        </p:spPr>
        <p:txBody>
          <a:bodyPr anchor="t" rtlCol="false" tIns="0" lIns="0" bIns="0" rIns="0">
            <a:spAutoFit/>
          </a:bodyPr>
          <a:lstStyle/>
          <a:p>
            <a:pPr algn="ctr" marL="0" indent="0" lvl="0">
              <a:lnSpc>
                <a:spcPts val="7909"/>
              </a:lnSpc>
            </a:pP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4684799"/>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585969" y="1082294"/>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296216" y="4694324"/>
            <a:ext cx="5583840" cy="34543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React.js Single-Page Application (SPA) built with a component-driven architecture. Dynamic rendering ensures seamless navigation without full page reloads. State management via React Context API and hooks enables real-time UI updates across the dashboard, forms, and charts.</a:t>
            </a:r>
          </a:p>
        </p:txBody>
      </p:sp>
      <p:sp>
        <p:nvSpPr>
          <p:cNvPr name="TextBox 7" id="7"/>
          <p:cNvSpPr txBox="true"/>
          <p:nvPr/>
        </p:nvSpPr>
        <p:spPr>
          <a:xfrm rot="0">
            <a:off x="3955689" y="1085850"/>
            <a:ext cx="10376622" cy="1042905"/>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FRONTEND DESIGN</a:t>
            </a:r>
          </a:p>
        </p:txBody>
      </p:sp>
      <p:sp>
        <p:nvSpPr>
          <p:cNvPr name="TextBox 8" id="8"/>
          <p:cNvSpPr txBox="true"/>
          <p:nvPr/>
        </p:nvSpPr>
        <p:spPr>
          <a:xfrm rot="0">
            <a:off x="9407945" y="4694324"/>
            <a:ext cx="5583840" cy="34543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Modular component design promotes scalability and maintainability across the entire frontend. Reusable UI components — including cards, charts, tables, and forms — are organized for easy extension. Responsive layouts adapt seamlessly to all screen sizes using modern CSS frameworks.</a:t>
            </a:r>
          </a:p>
        </p:txBody>
      </p:sp>
      <p:sp>
        <p:nvSpPr>
          <p:cNvPr name="TextBox 9" id="9"/>
          <p:cNvSpPr txBox="true"/>
          <p:nvPr/>
        </p:nvSpPr>
        <p:spPr>
          <a:xfrm rot="0">
            <a:off x="5218565" y="3601951"/>
            <a:ext cx="1739141" cy="1042905"/>
          </a:xfrm>
          <a:prstGeom prst="rect">
            <a:avLst/>
          </a:prstGeom>
        </p:spPr>
        <p:txBody>
          <a:bodyPr anchor="t" rtlCol="false" tIns="0" lIns="0" bIns="0" rIns="0">
            <a:spAutoFit/>
          </a:bodyPr>
          <a:lstStyle/>
          <a:p>
            <a:pPr algn="ctr" marL="0" indent="0" lvl="0">
              <a:lnSpc>
                <a:spcPts val="7909"/>
              </a:lnSpc>
            </a:pPr>
          </a:p>
        </p:txBody>
      </p:sp>
      <p:sp>
        <p:nvSpPr>
          <p:cNvPr name="TextBox 10" id="10"/>
          <p:cNvSpPr txBox="true"/>
          <p:nvPr/>
        </p:nvSpPr>
        <p:spPr>
          <a:xfrm rot="0">
            <a:off x="11330294" y="3601951"/>
            <a:ext cx="1739141" cy="1042905"/>
          </a:xfrm>
          <a:prstGeom prst="rect">
            <a:avLst/>
          </a:prstGeom>
        </p:spPr>
        <p:txBody>
          <a:bodyPr anchor="t" rtlCol="false" tIns="0" lIns="0" bIns="0" rIns="0">
            <a:spAutoFit/>
          </a:bodyPr>
          <a:lstStyle/>
          <a:p>
            <a:pPr algn="ctr" marL="0" indent="0" lvl="0">
              <a:lnSpc>
                <a:spcPts val="7909"/>
              </a:lnSpc>
            </a:pP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269682" y="7022192"/>
            <a:ext cx="2371932" cy="853895"/>
          </a:xfrm>
          <a:custGeom>
            <a:avLst/>
            <a:gdLst/>
            <a:ahLst/>
            <a:cxnLst/>
            <a:rect r="r" b="b" t="t" l="l"/>
            <a:pathLst>
              <a:path h="853895" w="2371932">
                <a:moveTo>
                  <a:pt x="0" y="0"/>
                </a:moveTo>
                <a:lnTo>
                  <a:pt x="2371931" y="0"/>
                </a:lnTo>
                <a:lnTo>
                  <a:pt x="2371931" y="853895"/>
                </a:lnTo>
                <a:lnTo>
                  <a:pt x="0" y="8538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SECURITY AND DATA PRIVACY</a:t>
            </a:r>
          </a:p>
        </p:txBody>
      </p:sp>
      <p:sp>
        <p:nvSpPr>
          <p:cNvPr name="Freeform 6" id="6"/>
          <p:cNvSpPr/>
          <p:nvPr/>
        </p:nvSpPr>
        <p:spPr>
          <a:xfrm flipH="true" flipV="false" rot="-5400000">
            <a:off x="15646387" y="1787718"/>
            <a:ext cx="2371932" cy="853895"/>
          </a:xfrm>
          <a:custGeom>
            <a:avLst/>
            <a:gdLst/>
            <a:ahLst/>
            <a:cxnLst/>
            <a:rect r="r" b="b" t="t" l="l"/>
            <a:pathLst>
              <a:path h="853895" w="2371932">
                <a:moveTo>
                  <a:pt x="2371931" y="0"/>
                </a:moveTo>
                <a:lnTo>
                  <a:pt x="0" y="0"/>
                </a:lnTo>
                <a:lnTo>
                  <a:pt x="0" y="853895"/>
                </a:lnTo>
                <a:lnTo>
                  <a:pt x="2371931" y="853895"/>
                </a:lnTo>
                <a:lnTo>
                  <a:pt x="237193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3704754" y="3690351"/>
            <a:ext cx="12296495" cy="10540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Authentication &amp; Authorization: Secure user login with token-based authentication (JWT), role-based access control ensuring only authorized users can access sensitive financial data and perform permitted actions.</a:t>
            </a:r>
          </a:p>
        </p:txBody>
      </p:sp>
      <p:sp>
        <p:nvSpPr>
          <p:cNvPr name="Freeform 8" id="8"/>
          <p:cNvSpPr/>
          <p:nvPr/>
        </p:nvSpPr>
        <p:spPr>
          <a:xfrm flipH="false" flipV="false" rot="0">
            <a:off x="2446424" y="3765834"/>
            <a:ext cx="893610" cy="893610"/>
          </a:xfrm>
          <a:custGeom>
            <a:avLst/>
            <a:gdLst/>
            <a:ahLst/>
            <a:cxnLst/>
            <a:rect r="r" b="b" t="t" l="l"/>
            <a:pathLst>
              <a:path h="893610" w="893610">
                <a:moveTo>
                  <a:pt x="0" y="0"/>
                </a:moveTo>
                <a:lnTo>
                  <a:pt x="893609" y="0"/>
                </a:lnTo>
                <a:lnTo>
                  <a:pt x="893609" y="893609"/>
                </a:lnTo>
                <a:lnTo>
                  <a:pt x="0" y="8936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3704754" y="5432926"/>
            <a:ext cx="12296495" cy="10540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Secure Data Storage: Financial records are stored securely in MongoDB with encrypted sensitive fields. Passwords are hashed using industry-standard algorithms, ensuring no plain-text credentials are ever persisted.</a:t>
            </a:r>
          </a:p>
        </p:txBody>
      </p:sp>
      <p:sp>
        <p:nvSpPr>
          <p:cNvPr name="TextBox 10" id="10"/>
          <p:cNvSpPr txBox="true"/>
          <p:nvPr/>
        </p:nvSpPr>
        <p:spPr>
          <a:xfrm rot="0">
            <a:off x="3704754" y="7175501"/>
            <a:ext cx="12296495" cy="1054075"/>
          </a:xfrm>
          <a:prstGeom prst="rect">
            <a:avLst/>
          </a:prstGeom>
        </p:spPr>
        <p:txBody>
          <a:bodyPr anchor="t" rtlCol="false" tIns="0" lIns="0" bIns="0" rIns="0">
            <a:spAutoFit/>
          </a:bodyPr>
          <a:lstStyle/>
          <a:p>
            <a:pPr algn="just" marL="0" indent="0" lvl="0">
              <a:lnSpc>
                <a:spcPts val="2723"/>
              </a:lnSpc>
            </a:pPr>
            <a:r>
              <a:rPr lang="en-US" sz="2498">
                <a:solidFill>
                  <a:srgbClr val="18899D"/>
                </a:solidFill>
                <a:latin typeface="TS Qamus"/>
                <a:ea typeface="TS Qamus"/>
                <a:cs typeface="TS Qamus"/>
                <a:sym typeface="TS Qamus"/>
              </a:rPr>
              <a:t>Data Validation &amp; Encryption: All user inputs are validated on both client and server sides to prevent injection attacks. Data in transit is protected via HTTPS/TLS encryption, safeguarding privacy at every layer.</a:t>
            </a:r>
          </a:p>
        </p:txBody>
      </p:sp>
      <p:sp>
        <p:nvSpPr>
          <p:cNvPr name="Freeform 11" id="11"/>
          <p:cNvSpPr/>
          <p:nvPr/>
        </p:nvSpPr>
        <p:spPr>
          <a:xfrm flipH="false" flipV="false" rot="0">
            <a:off x="2446424" y="5423401"/>
            <a:ext cx="893610" cy="893610"/>
          </a:xfrm>
          <a:custGeom>
            <a:avLst/>
            <a:gdLst/>
            <a:ahLst/>
            <a:cxnLst/>
            <a:rect r="r" b="b" t="t" l="l"/>
            <a:pathLst>
              <a:path h="893610" w="893610">
                <a:moveTo>
                  <a:pt x="0" y="0"/>
                </a:moveTo>
                <a:lnTo>
                  <a:pt x="893609" y="0"/>
                </a:lnTo>
                <a:lnTo>
                  <a:pt x="893609" y="893610"/>
                </a:lnTo>
                <a:lnTo>
                  <a:pt x="0" y="893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2446424" y="7080969"/>
            <a:ext cx="893610" cy="893610"/>
          </a:xfrm>
          <a:custGeom>
            <a:avLst/>
            <a:gdLst/>
            <a:ahLst/>
            <a:cxnLst/>
            <a:rect r="r" b="b" t="t" l="l"/>
            <a:pathLst>
              <a:path h="893610" w="893610">
                <a:moveTo>
                  <a:pt x="0" y="0"/>
                </a:moveTo>
                <a:lnTo>
                  <a:pt x="893609" y="0"/>
                </a:lnTo>
                <a:lnTo>
                  <a:pt x="893609" y="893609"/>
                </a:lnTo>
                <a:lnTo>
                  <a:pt x="0" y="8936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269682" y="7022192"/>
            <a:ext cx="2371932" cy="853895"/>
          </a:xfrm>
          <a:custGeom>
            <a:avLst/>
            <a:gdLst/>
            <a:ahLst/>
            <a:cxnLst/>
            <a:rect r="r" b="b" t="t" l="l"/>
            <a:pathLst>
              <a:path h="853895" w="2371932">
                <a:moveTo>
                  <a:pt x="0" y="0"/>
                </a:moveTo>
                <a:lnTo>
                  <a:pt x="2371931" y="0"/>
                </a:lnTo>
                <a:lnTo>
                  <a:pt x="2371931" y="853895"/>
                </a:lnTo>
                <a:lnTo>
                  <a:pt x="0" y="8538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FUTURE ENHANCEMENTS</a:t>
            </a:r>
          </a:p>
        </p:txBody>
      </p:sp>
      <p:sp>
        <p:nvSpPr>
          <p:cNvPr name="Freeform 6" id="6"/>
          <p:cNvSpPr/>
          <p:nvPr/>
        </p:nvSpPr>
        <p:spPr>
          <a:xfrm flipH="true" flipV="false" rot="-5400000">
            <a:off x="15646387" y="1787718"/>
            <a:ext cx="2371932" cy="853895"/>
          </a:xfrm>
          <a:custGeom>
            <a:avLst/>
            <a:gdLst/>
            <a:ahLst/>
            <a:cxnLst/>
            <a:rect r="r" b="b" t="t" l="l"/>
            <a:pathLst>
              <a:path h="853895" w="2371932">
                <a:moveTo>
                  <a:pt x="2371931" y="0"/>
                </a:moveTo>
                <a:lnTo>
                  <a:pt x="0" y="0"/>
                </a:lnTo>
                <a:lnTo>
                  <a:pt x="0" y="853895"/>
                </a:lnTo>
                <a:lnTo>
                  <a:pt x="2371931" y="853895"/>
                </a:lnTo>
                <a:lnTo>
                  <a:pt x="237193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3704754" y="3690351"/>
            <a:ext cx="12296495" cy="906264"/>
          </a:xfrm>
          <a:prstGeom prst="rect">
            <a:avLst/>
          </a:prstGeom>
        </p:spPr>
        <p:txBody>
          <a:bodyPr anchor="t" rtlCol="false" tIns="0" lIns="0" bIns="0" rIns="0">
            <a:spAutoFit/>
          </a:bodyPr>
          <a:lstStyle/>
          <a:p>
            <a:pPr algn="just" marL="0" indent="0" lvl="0">
              <a:lnSpc>
                <a:spcPts val="2337"/>
              </a:lnSpc>
            </a:pPr>
            <a:r>
              <a:rPr lang="en-US" sz="2144">
                <a:solidFill>
                  <a:srgbClr val="18899D"/>
                </a:solidFill>
                <a:latin typeface="TS Qamus"/>
                <a:ea typeface="TS Qamus"/>
                <a:cs typeface="TS Qamus"/>
                <a:sym typeface="TS Qamus"/>
              </a:rPr>
              <a:t>Mobile App Development: Extend the MERN Stack Expense Tracker to native iOS and Android platforms, enabling users to manage finances, log expenses, and receive alerts on the go with a seamless mobile experience.</a:t>
            </a:r>
          </a:p>
        </p:txBody>
      </p:sp>
      <p:sp>
        <p:nvSpPr>
          <p:cNvPr name="Freeform 8" id="8"/>
          <p:cNvSpPr/>
          <p:nvPr/>
        </p:nvSpPr>
        <p:spPr>
          <a:xfrm flipH="false" flipV="false" rot="0">
            <a:off x="2522884" y="3533397"/>
            <a:ext cx="739004" cy="1359087"/>
          </a:xfrm>
          <a:custGeom>
            <a:avLst/>
            <a:gdLst/>
            <a:ahLst/>
            <a:cxnLst/>
            <a:rect r="r" b="b" t="t" l="l"/>
            <a:pathLst>
              <a:path h="1359087" w="739004">
                <a:moveTo>
                  <a:pt x="0" y="0"/>
                </a:moveTo>
                <a:lnTo>
                  <a:pt x="739004" y="0"/>
                </a:lnTo>
                <a:lnTo>
                  <a:pt x="739004" y="1359087"/>
                </a:lnTo>
                <a:lnTo>
                  <a:pt x="0" y="1359087"/>
                </a:lnTo>
                <a:lnTo>
                  <a:pt x="0" y="0"/>
                </a:lnTo>
                <a:close/>
              </a:path>
            </a:pathLst>
          </a:custGeom>
          <a:blipFill>
            <a:blip r:embed="rId6"/>
            <a:stretch>
              <a:fillRect l="0" t="0" r="0" b="0"/>
            </a:stretch>
          </a:blipFill>
        </p:spPr>
      </p:sp>
      <p:sp>
        <p:nvSpPr>
          <p:cNvPr name="TextBox 9" id="9"/>
          <p:cNvSpPr txBox="true"/>
          <p:nvPr/>
        </p:nvSpPr>
        <p:spPr>
          <a:xfrm rot="0">
            <a:off x="3704754" y="5432926"/>
            <a:ext cx="12296495" cy="906264"/>
          </a:xfrm>
          <a:prstGeom prst="rect">
            <a:avLst/>
          </a:prstGeom>
        </p:spPr>
        <p:txBody>
          <a:bodyPr anchor="t" rtlCol="false" tIns="0" lIns="0" bIns="0" rIns="0">
            <a:spAutoFit/>
          </a:bodyPr>
          <a:lstStyle/>
          <a:p>
            <a:pPr algn="just" marL="0" indent="0" lvl="0">
              <a:lnSpc>
                <a:spcPts val="2337"/>
              </a:lnSpc>
            </a:pPr>
            <a:r>
              <a:rPr lang="en-US" sz="2144">
                <a:solidFill>
                  <a:srgbClr val="18899D"/>
                </a:solidFill>
                <a:latin typeface="TS Qamus"/>
                <a:ea typeface="TS Qamus"/>
                <a:cs typeface="TS Qamus"/>
                <a:sym typeface="TS Qamus"/>
              </a:rPr>
              <a:t>AI-Driven Predictions &amp; Advice: Integrate machine learning models to analyze spending patterns, forecast future expenses, suggest budget optimizations, and provide personalized financial advice based on user behavior.</a:t>
            </a:r>
          </a:p>
        </p:txBody>
      </p:sp>
      <p:sp>
        <p:nvSpPr>
          <p:cNvPr name="TextBox 10" id="10"/>
          <p:cNvSpPr txBox="true"/>
          <p:nvPr/>
        </p:nvSpPr>
        <p:spPr>
          <a:xfrm rot="0">
            <a:off x="3704754" y="7175501"/>
            <a:ext cx="12296495" cy="906264"/>
          </a:xfrm>
          <a:prstGeom prst="rect">
            <a:avLst/>
          </a:prstGeom>
        </p:spPr>
        <p:txBody>
          <a:bodyPr anchor="t" rtlCol="false" tIns="0" lIns="0" bIns="0" rIns="0">
            <a:spAutoFit/>
          </a:bodyPr>
          <a:lstStyle/>
          <a:p>
            <a:pPr algn="just" marL="0" indent="0" lvl="0">
              <a:lnSpc>
                <a:spcPts val="2337"/>
              </a:lnSpc>
            </a:pPr>
            <a:r>
              <a:rPr lang="en-US" sz="2144">
                <a:solidFill>
                  <a:srgbClr val="18899D"/>
                </a:solidFill>
                <a:latin typeface="TS Qamus"/>
                <a:ea typeface="TS Qamus"/>
                <a:cs typeface="TS Qamus"/>
                <a:sym typeface="TS Qamus"/>
              </a:rPr>
              <a:t>External Banking API Integration: Connect directly with banks and financial institutions via open banking APIs to auto-import transactions, sync account balances in real time, and eliminate manual data entry for a fully automated finance hub.</a:t>
            </a:r>
          </a:p>
        </p:txBody>
      </p:sp>
      <p:sp>
        <p:nvSpPr>
          <p:cNvPr name="Freeform 11" id="11"/>
          <p:cNvSpPr/>
          <p:nvPr/>
        </p:nvSpPr>
        <p:spPr>
          <a:xfrm flipH="false" flipV="false" rot="0">
            <a:off x="2395524" y="5403169"/>
            <a:ext cx="996083" cy="938672"/>
          </a:xfrm>
          <a:custGeom>
            <a:avLst/>
            <a:gdLst/>
            <a:ahLst/>
            <a:cxnLst/>
            <a:rect r="r" b="b" t="t" l="l"/>
            <a:pathLst>
              <a:path h="938672" w="996083">
                <a:moveTo>
                  <a:pt x="0" y="0"/>
                </a:moveTo>
                <a:lnTo>
                  <a:pt x="996082" y="0"/>
                </a:lnTo>
                <a:lnTo>
                  <a:pt x="996082" y="938672"/>
                </a:lnTo>
                <a:lnTo>
                  <a:pt x="0" y="938672"/>
                </a:lnTo>
                <a:lnTo>
                  <a:pt x="0" y="0"/>
                </a:lnTo>
                <a:close/>
              </a:path>
            </a:pathLst>
          </a:custGeom>
          <a:blipFill>
            <a:blip r:embed="rId7"/>
            <a:stretch>
              <a:fillRect l="0" t="0" r="0" b="0"/>
            </a:stretch>
          </a:blipFill>
        </p:spPr>
      </p:sp>
      <p:sp>
        <p:nvSpPr>
          <p:cNvPr name="Freeform 12" id="12"/>
          <p:cNvSpPr/>
          <p:nvPr/>
        </p:nvSpPr>
        <p:spPr>
          <a:xfrm flipH="false" flipV="false" rot="0">
            <a:off x="2469002" y="7103490"/>
            <a:ext cx="847859" cy="849984"/>
          </a:xfrm>
          <a:custGeom>
            <a:avLst/>
            <a:gdLst/>
            <a:ahLst/>
            <a:cxnLst/>
            <a:rect r="r" b="b" t="t" l="l"/>
            <a:pathLst>
              <a:path h="849984" w="847859">
                <a:moveTo>
                  <a:pt x="0" y="0"/>
                </a:moveTo>
                <a:lnTo>
                  <a:pt x="847859" y="0"/>
                </a:lnTo>
                <a:lnTo>
                  <a:pt x="847859" y="849984"/>
                </a:lnTo>
                <a:lnTo>
                  <a:pt x="0" y="849984"/>
                </a:lnTo>
                <a:lnTo>
                  <a:pt x="0" y="0"/>
                </a:lnTo>
                <a:close/>
              </a:path>
            </a:pathLst>
          </a:custGeom>
          <a:blipFill>
            <a:blip r:embed="rId8"/>
            <a:stretch>
              <a:fillRect l="0" t="0" r="0" b="0"/>
            </a:stretch>
          </a:blipFill>
        </p:spPr>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269682" y="7022192"/>
            <a:ext cx="2371932" cy="853895"/>
          </a:xfrm>
          <a:custGeom>
            <a:avLst/>
            <a:gdLst/>
            <a:ahLst/>
            <a:cxnLst/>
            <a:rect r="r" b="b" t="t" l="l"/>
            <a:pathLst>
              <a:path h="853895" w="2371932">
                <a:moveTo>
                  <a:pt x="0" y="0"/>
                </a:moveTo>
                <a:lnTo>
                  <a:pt x="2371931" y="0"/>
                </a:lnTo>
                <a:lnTo>
                  <a:pt x="2371931" y="853895"/>
                </a:lnTo>
                <a:lnTo>
                  <a:pt x="0" y="8538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SUMMARY &amp; KEY TAKEAWAYS</a:t>
            </a:r>
          </a:p>
        </p:txBody>
      </p:sp>
      <p:sp>
        <p:nvSpPr>
          <p:cNvPr name="Freeform 6" id="6"/>
          <p:cNvSpPr/>
          <p:nvPr/>
        </p:nvSpPr>
        <p:spPr>
          <a:xfrm flipH="true" flipV="false" rot="-5400000">
            <a:off x="15646387" y="1787718"/>
            <a:ext cx="2371932" cy="853895"/>
          </a:xfrm>
          <a:custGeom>
            <a:avLst/>
            <a:gdLst/>
            <a:ahLst/>
            <a:cxnLst/>
            <a:rect r="r" b="b" t="t" l="l"/>
            <a:pathLst>
              <a:path h="853895" w="2371932">
                <a:moveTo>
                  <a:pt x="2371931" y="0"/>
                </a:moveTo>
                <a:lnTo>
                  <a:pt x="0" y="0"/>
                </a:lnTo>
                <a:lnTo>
                  <a:pt x="0" y="853895"/>
                </a:lnTo>
                <a:lnTo>
                  <a:pt x="2371931" y="853895"/>
                </a:lnTo>
                <a:lnTo>
                  <a:pt x="237193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3704754" y="3690351"/>
            <a:ext cx="12296495" cy="936302"/>
          </a:xfrm>
          <a:prstGeom prst="rect">
            <a:avLst/>
          </a:prstGeom>
        </p:spPr>
        <p:txBody>
          <a:bodyPr anchor="t" rtlCol="false" tIns="0" lIns="0" bIns="0" rIns="0">
            <a:spAutoFit/>
          </a:bodyPr>
          <a:lstStyle/>
          <a:p>
            <a:pPr algn="just" marL="0" indent="0" lvl="0">
              <a:lnSpc>
                <a:spcPts val="2452"/>
              </a:lnSpc>
            </a:pPr>
            <a:r>
              <a:rPr lang="en-US" sz="2249">
                <a:solidFill>
                  <a:srgbClr val="18899D"/>
                </a:solidFill>
                <a:latin typeface="TS Qamus"/>
                <a:ea typeface="TS Qamus"/>
                <a:cs typeface="TS Qamus"/>
                <a:sym typeface="TS Qamus"/>
              </a:rPr>
              <a:t>All-in-One Finance Platform: A comprehensive solution for personal and family finance management — covering income, expenses, budgets, savings goals, transactions, and collaborative family wallets in a single unified application.</a:t>
            </a:r>
          </a:p>
        </p:txBody>
      </p:sp>
      <p:sp>
        <p:nvSpPr>
          <p:cNvPr name="Freeform 8" id="8"/>
          <p:cNvSpPr/>
          <p:nvPr/>
        </p:nvSpPr>
        <p:spPr>
          <a:xfrm flipH="false" flipV="false" rot="0">
            <a:off x="2446424" y="3765834"/>
            <a:ext cx="893610" cy="893610"/>
          </a:xfrm>
          <a:custGeom>
            <a:avLst/>
            <a:gdLst/>
            <a:ahLst/>
            <a:cxnLst/>
            <a:rect r="r" b="b" t="t" l="l"/>
            <a:pathLst>
              <a:path h="893610" w="893610">
                <a:moveTo>
                  <a:pt x="0" y="0"/>
                </a:moveTo>
                <a:lnTo>
                  <a:pt x="893609" y="0"/>
                </a:lnTo>
                <a:lnTo>
                  <a:pt x="893609" y="893609"/>
                </a:lnTo>
                <a:lnTo>
                  <a:pt x="0" y="8936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3704754" y="5432926"/>
            <a:ext cx="12296495" cy="936302"/>
          </a:xfrm>
          <a:prstGeom prst="rect">
            <a:avLst/>
          </a:prstGeom>
        </p:spPr>
        <p:txBody>
          <a:bodyPr anchor="t" rtlCol="false" tIns="0" lIns="0" bIns="0" rIns="0">
            <a:spAutoFit/>
          </a:bodyPr>
          <a:lstStyle/>
          <a:p>
            <a:pPr algn="just" marL="0" indent="0" lvl="0">
              <a:lnSpc>
                <a:spcPts val="2452"/>
              </a:lnSpc>
            </a:pPr>
            <a:r>
              <a:rPr lang="en-US" sz="2249">
                <a:solidFill>
                  <a:srgbClr val="18899D"/>
                </a:solidFill>
                <a:latin typeface="TS Qamus"/>
                <a:ea typeface="TS Qamus"/>
                <a:cs typeface="TS Qamus"/>
                <a:sym typeface="TS Qamus"/>
              </a:rPr>
              <a:t>Automation, Collaboration &amp; Analytics: Empowers users with recurring transaction automation, real-time budget alerts, expense splitting, detailed reports, and exportable analytics — enabling smarter, data-driven financial decisions.</a:t>
            </a:r>
          </a:p>
        </p:txBody>
      </p:sp>
      <p:sp>
        <p:nvSpPr>
          <p:cNvPr name="TextBox 10" id="10"/>
          <p:cNvSpPr txBox="true"/>
          <p:nvPr/>
        </p:nvSpPr>
        <p:spPr>
          <a:xfrm rot="0">
            <a:off x="3704754" y="7175501"/>
            <a:ext cx="12296495" cy="936302"/>
          </a:xfrm>
          <a:prstGeom prst="rect">
            <a:avLst/>
          </a:prstGeom>
        </p:spPr>
        <p:txBody>
          <a:bodyPr anchor="t" rtlCol="false" tIns="0" lIns="0" bIns="0" rIns="0">
            <a:spAutoFit/>
          </a:bodyPr>
          <a:lstStyle/>
          <a:p>
            <a:pPr algn="just" marL="0" indent="0" lvl="0">
              <a:lnSpc>
                <a:spcPts val="2452"/>
              </a:lnSpc>
            </a:pPr>
            <a:r>
              <a:rPr lang="en-US" sz="2249">
                <a:solidFill>
                  <a:srgbClr val="18899D"/>
                </a:solidFill>
                <a:latin typeface="TS Qamus"/>
                <a:ea typeface="TS Qamus"/>
                <a:cs typeface="TS Qamus"/>
                <a:sym typeface="TS Qamus"/>
              </a:rPr>
              <a:t>Built on Modern MERN Stack: Leverages MongoDB, Express.js, React.js, and Node.js to deliver a scalable, responsive, and high-performance application with a clean modern UI and robust backend architecture.</a:t>
            </a:r>
          </a:p>
        </p:txBody>
      </p:sp>
      <p:sp>
        <p:nvSpPr>
          <p:cNvPr name="Freeform 11" id="11"/>
          <p:cNvSpPr/>
          <p:nvPr/>
        </p:nvSpPr>
        <p:spPr>
          <a:xfrm flipH="false" flipV="false" rot="0">
            <a:off x="2446424" y="5423401"/>
            <a:ext cx="893610" cy="893610"/>
          </a:xfrm>
          <a:custGeom>
            <a:avLst/>
            <a:gdLst/>
            <a:ahLst/>
            <a:cxnLst/>
            <a:rect r="r" b="b" t="t" l="l"/>
            <a:pathLst>
              <a:path h="893610" w="893610">
                <a:moveTo>
                  <a:pt x="0" y="0"/>
                </a:moveTo>
                <a:lnTo>
                  <a:pt x="893609" y="0"/>
                </a:lnTo>
                <a:lnTo>
                  <a:pt x="893609" y="893610"/>
                </a:lnTo>
                <a:lnTo>
                  <a:pt x="0" y="893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2446424" y="7080969"/>
            <a:ext cx="893610" cy="893610"/>
          </a:xfrm>
          <a:custGeom>
            <a:avLst/>
            <a:gdLst/>
            <a:ahLst/>
            <a:cxnLst/>
            <a:rect r="r" b="b" t="t" l="l"/>
            <a:pathLst>
              <a:path h="893610" w="893610">
                <a:moveTo>
                  <a:pt x="0" y="0"/>
                </a:moveTo>
                <a:lnTo>
                  <a:pt x="893609" y="0"/>
                </a:lnTo>
                <a:lnTo>
                  <a:pt x="893609" y="893609"/>
                </a:lnTo>
                <a:lnTo>
                  <a:pt x="0" y="8936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88729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377411" y="4167160"/>
            <a:ext cx="11533177" cy="1667152"/>
          </a:xfrm>
          <a:prstGeom prst="rect">
            <a:avLst/>
          </a:prstGeom>
        </p:spPr>
        <p:txBody>
          <a:bodyPr anchor="t" rtlCol="false" tIns="0" lIns="0" bIns="0" rIns="0">
            <a:spAutoFit/>
          </a:bodyPr>
          <a:lstStyle/>
          <a:p>
            <a:pPr algn="ctr" marL="0" indent="0" lvl="0">
              <a:lnSpc>
                <a:spcPts val="12876"/>
              </a:lnSpc>
            </a:pPr>
            <a:r>
              <a:rPr lang="en-US" b="true" sz="11813">
                <a:solidFill>
                  <a:srgbClr val="18899D"/>
                </a:solidFill>
                <a:latin typeface="TS Qamus Bold"/>
                <a:ea typeface="TS Qamus Bold"/>
                <a:cs typeface="TS Qamus Bold"/>
                <a:sym typeface="TS Qamus Bold"/>
              </a:rPr>
              <a:t>THANK YOU!</a:t>
            </a:r>
          </a:p>
        </p:txBody>
      </p:sp>
      <p:sp>
        <p:nvSpPr>
          <p:cNvPr name="TextBox 4" id="4"/>
          <p:cNvSpPr txBox="true"/>
          <p:nvPr/>
        </p:nvSpPr>
        <p:spPr>
          <a:xfrm rot="0">
            <a:off x="4449213" y="5853868"/>
            <a:ext cx="9389573" cy="648525"/>
          </a:xfrm>
          <a:prstGeom prst="rect">
            <a:avLst/>
          </a:prstGeom>
        </p:spPr>
        <p:txBody>
          <a:bodyPr anchor="t" rtlCol="false" tIns="0" lIns="0" bIns="0" rIns="0">
            <a:spAutoFit/>
          </a:bodyPr>
          <a:lstStyle/>
          <a:p>
            <a:pPr algn="ctr" marL="0" indent="0" lvl="0">
              <a:lnSpc>
                <a:spcPts val="2518"/>
              </a:lnSpc>
            </a:pPr>
            <a:r>
              <a:rPr lang="en-US" sz="2310">
                <a:solidFill>
                  <a:srgbClr val="18899D"/>
                </a:solidFill>
                <a:latin typeface="TS Qamus"/>
                <a:ea typeface="TS Qamus"/>
                <a:cs typeface="TS Qamus"/>
                <a:sym typeface="TS Qamus"/>
              </a:rPr>
              <a:t>Presented by Hannah Porter | Open for Questions, Demo Requests &amp; Collaboration</a:t>
            </a:r>
          </a:p>
        </p:txBody>
      </p:sp>
      <p:sp>
        <p:nvSpPr>
          <p:cNvPr name="Freeform 5" id="5"/>
          <p:cNvSpPr/>
          <p:nvPr/>
        </p:nvSpPr>
        <p:spPr>
          <a:xfrm flipH="true" flipV="true" rot="0">
            <a:off x="13144500" y="4943839"/>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865987" y="8357346"/>
            <a:ext cx="7315200" cy="2673373"/>
          </a:xfrm>
          <a:custGeom>
            <a:avLst/>
            <a:gdLst/>
            <a:ahLst/>
            <a:cxnLst/>
            <a:rect r="r" b="b" t="t" l="l"/>
            <a:pathLst>
              <a:path h="2673373" w="7315200">
                <a:moveTo>
                  <a:pt x="0" y="0"/>
                </a:moveTo>
                <a:lnTo>
                  <a:pt x="7315200" y="0"/>
                </a:lnTo>
                <a:lnTo>
                  <a:pt x="7315200" y="2673373"/>
                </a:lnTo>
                <a:lnTo>
                  <a:pt x="0" y="26733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144500" y="-449392"/>
            <a:ext cx="7315200" cy="2673373"/>
          </a:xfrm>
          <a:custGeom>
            <a:avLst/>
            <a:gdLst/>
            <a:ahLst/>
            <a:cxnLst/>
            <a:rect r="r" b="b" t="t" l="l"/>
            <a:pathLst>
              <a:path h="2673373" w="7315200">
                <a:moveTo>
                  <a:pt x="0" y="0"/>
                </a:moveTo>
                <a:lnTo>
                  <a:pt x="7315200" y="0"/>
                </a:lnTo>
                <a:lnTo>
                  <a:pt x="7315200" y="2673374"/>
                </a:lnTo>
                <a:lnTo>
                  <a:pt x="0" y="26733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3377411" y="8765271"/>
            <a:ext cx="2143604" cy="986058"/>
          </a:xfrm>
          <a:custGeom>
            <a:avLst/>
            <a:gdLst/>
            <a:ahLst/>
            <a:cxnLst/>
            <a:rect r="r" b="b" t="t" l="l"/>
            <a:pathLst>
              <a:path h="986058" w="2143604">
                <a:moveTo>
                  <a:pt x="0" y="0"/>
                </a:moveTo>
                <a:lnTo>
                  <a:pt x="2143604" y="0"/>
                </a:lnTo>
                <a:lnTo>
                  <a:pt x="2143604" y="986058"/>
                </a:lnTo>
                <a:lnTo>
                  <a:pt x="0" y="9860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false" rot="0">
            <a:off x="12433881" y="887295"/>
            <a:ext cx="2143604" cy="986058"/>
          </a:xfrm>
          <a:custGeom>
            <a:avLst/>
            <a:gdLst/>
            <a:ahLst/>
            <a:cxnLst/>
            <a:rect r="r" b="b" t="t" l="l"/>
            <a:pathLst>
              <a:path h="986058" w="2143604">
                <a:moveTo>
                  <a:pt x="2143604" y="0"/>
                </a:moveTo>
                <a:lnTo>
                  <a:pt x="0" y="0"/>
                </a:lnTo>
                <a:lnTo>
                  <a:pt x="0" y="986058"/>
                </a:lnTo>
                <a:lnTo>
                  <a:pt x="2143604" y="986058"/>
                </a:lnTo>
                <a:lnTo>
                  <a:pt x="214360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DAHNqHH4UZY</dc:identifier>
  <dcterms:modified xsi:type="dcterms:W3CDTF">2011-08-01T06:04:30Z</dcterms:modified>
  <cp:revision>1</cp:revision>
  <dc:title>MERN Stack Expense Tracker Overview</dc:title>
</cp:coreProperties>
</file>